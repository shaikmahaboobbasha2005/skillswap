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F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0" y="1097280"/>
            <a:ext cx="2926080" cy="2926080"/>
          </a:xfrm>
          <a:prstGeom prst="rect">
            <a:avLst/>
          </a:prstGeom>
        </p:spPr>
      </p:pic>
      <p:sp>
        <p:nvSpPr>
          <p:cNvPr id="5" name="TextBox 4"/>
          <p:cNvSpPr txBox="1"/>
          <p:nvPr/>
        </p:nvSpPr>
        <p:spPr>
          <a:xfrm>
            <a:off x="1097280" y="2468880"/>
            <a:ext cx="6583680" cy="3474720"/>
          </a:xfrm>
          <a:prstGeom prst="rect">
            <a:avLst/>
          </a:prstGeom>
          <a:noFill/>
        </p:spPr>
        <p:txBody>
          <a:bodyPr wrap="square">
            <a:spAutoFit/>
          </a:bodyPr>
          <a:lstStyle/>
          <a:p>
            <a:pPr>
              <a:defRPr sz="1200" b="1">
                <a:solidFill>
                  <a:srgbClr val="3FA873"/>
                </a:solidFill>
                <a:latin typeface="Calibri"/>
              </a:defRPr>
            </a:pPr>
            <a:r>
              <a:t>B.TECH MINI PROJECT PRESENTATION</a:t>
            </a:r>
          </a:p>
          <a:p>
            <a:pPr>
              <a:spcBef>
                <a:spcPts val="800"/>
              </a:spcBef>
              <a:defRPr sz="4400" b="1">
                <a:solidFill>
                  <a:srgbClr val="FFFFFF"/>
                </a:solidFill>
                <a:latin typeface="Georgia"/>
              </a:defRPr>
            </a:pPr>
            <a:r>
              <a:t>SkillSwap</a:t>
            </a:r>
          </a:p>
          <a:p>
            <a:pPr>
              <a:spcBef>
                <a:spcPts val="400"/>
              </a:spcBef>
              <a:defRPr sz="2200" b="1">
                <a:solidFill>
                  <a:srgbClr val="C8DCD2"/>
                </a:solidFill>
                <a:latin typeface="Calibri"/>
              </a:defRPr>
            </a:pPr>
            <a:r>
              <a:t>A Peer-to-Peer Skill Exchange Platform</a:t>
            </a:r>
          </a:p>
          <a:p>
            <a:pPr>
              <a:spcBef>
                <a:spcPts val="1400"/>
              </a:spcBef>
              <a:defRPr sz="1300">
                <a:solidFill>
                  <a:srgbClr val="A0AFA8"/>
                </a:solidFill>
                <a:latin typeface="Calibri"/>
              </a:defRPr>
            </a:pPr>
            <a:r>
              <a:t>Share What You Know. Master What You Do.</a:t>
            </a:r>
            <a:br/>
            <a:r>
              <a:t>A modern full-stack barter network replacing expensive courses with reciprocal knowledge trades.</a:t>
            </a:r>
          </a:p>
        </p:txBody>
      </p:sp>
      <p:sp>
        <p:nvSpPr>
          <p:cNvPr id="6" name="Rounded Rectangle 5"/>
          <p:cNvSpPr/>
          <p:nvPr/>
        </p:nvSpPr>
        <p:spPr>
          <a:xfrm>
            <a:off x="8046720" y="1097280"/>
            <a:ext cx="3383280" cy="4846320"/>
          </a:xfrm>
          <a:prstGeom prst="roundRect">
            <a:avLst/>
          </a:prstGeom>
          <a:solidFill>
            <a:srgbClr val="181C1A"/>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320040" tIns="365760" rIns="320040"/>
          <a:lstStyle/>
          <a:p>
            <a:pPr algn="ctr">
              <a:defRPr sz="1200" b="1">
                <a:solidFill>
                  <a:srgbClr val="3FA873"/>
                </a:solidFill>
              </a:defRPr>
            </a:pPr>
            <a:r>
              <a:t>PROJECT TEAM</a:t>
            </a:r>
          </a:p>
          <a:p>
            <a:pPr>
              <a:spcBef>
                <a:spcPts val="1000"/>
              </a:spcBef>
              <a:defRPr sz="1300" b="1">
                <a:solidFill>
                  <a:srgbClr val="FFFFFF"/>
                </a:solidFill>
              </a:defRPr>
            </a:pPr>
            <a:r>
              <a:t>• Shaikh Mahaboob Basha</a:t>
            </a:r>
          </a:p>
          <a:p>
            <a:pPr>
              <a:defRPr sz="1100">
                <a:solidFill>
                  <a:srgbClr val="96AAA0"/>
                </a:solidFill>
              </a:defRPr>
            </a:pPr>
            <a:r>
              <a:t>   Lead Full-Stack Developer</a:t>
            </a:r>
          </a:p>
          <a:p>
            <a:pPr>
              <a:spcBef>
                <a:spcPts val="1000"/>
              </a:spcBef>
              <a:defRPr sz="1300" b="1">
                <a:solidFill>
                  <a:srgbClr val="FFFFFF"/>
                </a:solidFill>
              </a:defRPr>
            </a:pPr>
            <a:r>
              <a:t>• Shaik Mohammad Juber</a:t>
            </a:r>
          </a:p>
          <a:p>
            <a:pPr>
              <a:defRPr sz="1100">
                <a:solidFill>
                  <a:srgbClr val="96AAA0"/>
                </a:solidFill>
              </a:defRPr>
            </a:pPr>
            <a:r>
              <a:t>   Team Member</a:t>
            </a:r>
          </a:p>
          <a:p>
            <a:pPr>
              <a:spcBef>
                <a:spcPts val="1000"/>
              </a:spcBef>
              <a:defRPr sz="1300" b="1">
                <a:solidFill>
                  <a:srgbClr val="FFFFFF"/>
                </a:solidFill>
              </a:defRPr>
            </a:pPr>
            <a:r>
              <a:t>• Shaik DadaPeer</a:t>
            </a:r>
          </a:p>
          <a:p>
            <a:pPr>
              <a:defRPr sz="1100">
                <a:solidFill>
                  <a:srgbClr val="96AAA0"/>
                </a:solidFill>
              </a:defRPr>
            </a:pPr>
            <a:r>
              <a:t>   Team Member</a:t>
            </a:r>
          </a:p>
          <a:p>
            <a:pPr>
              <a:spcBef>
                <a:spcPts val="1000"/>
              </a:spcBef>
              <a:defRPr sz="1300" b="1">
                <a:solidFill>
                  <a:srgbClr val="FFFFFF"/>
                </a:solidFill>
              </a:defRPr>
            </a:pPr>
            <a:r>
              <a:t>• Shaik Thousif</a:t>
            </a:r>
          </a:p>
          <a:p>
            <a:pPr>
              <a:defRPr sz="1100">
                <a:solidFill>
                  <a:srgbClr val="96AAA0"/>
                </a:solidFill>
              </a:defRPr>
            </a:pPr>
            <a:r>
              <a:t>   Team Member</a:t>
            </a:r>
          </a:p>
          <a:p>
            <a:pPr>
              <a:spcBef>
                <a:spcPts val="2000"/>
              </a:spcBef>
              <a:defRPr sz="1100" b="1">
                <a:solidFill>
                  <a:srgbClr val="3FA873"/>
                </a:solidFill>
              </a:defRPr>
            </a:pPr>
            <a:r>
              <a:t>CORE TECHNOLOGIES</a:t>
            </a:r>
          </a:p>
          <a:p>
            <a:pPr>
              <a:spcBef>
                <a:spcPts val="400"/>
              </a:spcBef>
              <a:defRPr sz="1000">
                <a:solidFill>
                  <a:srgbClr val="B4BEB9"/>
                </a:solidFill>
              </a:defRPr>
            </a:pPr>
            <a:r>
              <a:t>React 19 • Node.js • Express v5 • MongoDB Atlas • Socket.IO • Google Gemini AI • Jitsi Meet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EXECUTIVE SUMMARY</a:t>
            </a:r>
          </a:p>
          <a:p>
            <a:pPr>
              <a:defRPr sz="2200" b="1">
                <a:solidFill>
                  <a:srgbClr val="FFFFFF"/>
                </a:solidFill>
                <a:latin typeface="Calibri"/>
              </a:defRPr>
            </a:pPr>
            <a:r>
              <a:t>Abstract — Executive Overview</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383280" cy="34747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defRPr sz="1000" b="1">
                <a:solidFill>
                  <a:srgbClr val="1B4332"/>
                </a:solidFill>
              </a:defRPr>
            </a:pPr>
            <a:r>
              <a:t>THE CORE CONCEPT</a:t>
            </a:r>
          </a:p>
          <a:p>
            <a:pPr>
              <a:spcBef>
                <a:spcPts val="600"/>
              </a:spcBef>
              <a:defRPr sz="1600" b="1">
                <a:solidFill>
                  <a:srgbClr val="16160F"/>
                </a:solidFill>
              </a:defRPr>
            </a:pPr>
            <a:r>
              <a:t>Bilateral Knowledge Barter</a:t>
            </a:r>
          </a:p>
          <a:p>
            <a:pPr>
              <a:spcBef>
                <a:spcPts val="1000"/>
              </a:spcBef>
              <a:defRPr sz="1200">
                <a:solidFill>
                  <a:srgbClr val="6B6858"/>
                </a:solidFill>
              </a:defRPr>
            </a:pPr>
            <a:r>
              <a:t>SkillSwap is a production-grade web application enabling users to trade skills directly with one another without fiat currency. Members list skills they can teach ('Offered') and skills they wish to learn ('Wanted'), unlocking mutual skill reciprocity.</a:t>
            </a:r>
          </a:p>
        </p:txBody>
      </p:sp>
      <p:sp>
        <p:nvSpPr>
          <p:cNvPr id="6" name="Rounded Rectangle 5"/>
          <p:cNvSpPr/>
          <p:nvPr/>
        </p:nvSpPr>
        <p:spPr>
          <a:xfrm>
            <a:off x="4389120" y="1463040"/>
            <a:ext cx="3383280" cy="34747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defRPr sz="1000" b="1">
                <a:solidFill>
                  <a:srgbClr val="1B4332"/>
                </a:solidFill>
              </a:defRPr>
            </a:pPr>
            <a:r>
              <a:t>KEY ARCHITECTURE</a:t>
            </a:r>
          </a:p>
          <a:p>
            <a:pPr>
              <a:spcBef>
                <a:spcPts val="600"/>
              </a:spcBef>
              <a:defRPr sz="1600" b="1">
                <a:solidFill>
                  <a:srgbClr val="16160F"/>
                </a:solidFill>
              </a:defRPr>
            </a:pPr>
            <a:r>
              <a:t>Modern Full-Stack Stack</a:t>
            </a:r>
          </a:p>
          <a:p>
            <a:pPr>
              <a:spcBef>
                <a:spcPts val="1000"/>
              </a:spcBef>
              <a:defRPr sz="1200">
                <a:solidFill>
                  <a:srgbClr val="6B6858"/>
                </a:solidFill>
              </a:defRPr>
            </a:pPr>
            <a:r>
              <a:t>Engineered with a React 19 SPA, Express.js v5 REST API, and MongoDB Atlas. Features real-time Socket.IO room messaging, embedded WebRTC video meetings via Jitsi, Cloudinary media storage, and Google Gemini Flash AI matching.</a:t>
            </a:r>
          </a:p>
        </p:txBody>
      </p:sp>
      <p:sp>
        <p:nvSpPr>
          <p:cNvPr id="7" name="Rounded Rectangle 6"/>
          <p:cNvSpPr/>
          <p:nvPr/>
        </p:nvSpPr>
        <p:spPr>
          <a:xfrm>
            <a:off x="8046720" y="1463040"/>
            <a:ext cx="3383280" cy="34747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defRPr sz="1000" b="1">
                <a:solidFill>
                  <a:srgbClr val="1B4332"/>
                </a:solidFill>
              </a:defRPr>
            </a:pPr>
            <a:r>
              <a:t>ACCOUNTABILITY &amp; TRUST</a:t>
            </a:r>
          </a:p>
          <a:p>
            <a:pPr>
              <a:spcBef>
                <a:spcPts val="600"/>
              </a:spcBef>
              <a:defRPr sz="1600" b="1">
                <a:solidFill>
                  <a:srgbClr val="16160F"/>
                </a:solidFill>
              </a:defRPr>
            </a:pPr>
            <a:r>
              <a:t>Two-Party Verification</a:t>
            </a:r>
          </a:p>
          <a:p>
            <a:pPr>
              <a:spcBef>
                <a:spcPts val="1000"/>
              </a:spcBef>
              <a:defRPr sz="1200">
                <a:solidFill>
                  <a:srgbClr val="6B6858"/>
                </a:solidFill>
              </a:defRPr>
            </a:pPr>
            <a:r>
              <a:t>Eliminates trust deficits via strict two-party completion confirmations, verified star ratings &amp; reviews linked to exact skill pairs, and an Instagram-style portfolio gallery with 4 curated reactions.</a:t>
            </a:r>
          </a:p>
        </p:txBody>
      </p:sp>
      <p:sp>
        <p:nvSpPr>
          <p:cNvPr id="8" name="Rounded Rectangle 7"/>
          <p:cNvSpPr/>
          <p:nvPr/>
        </p:nvSpPr>
        <p:spPr>
          <a:xfrm>
            <a:off x="731520" y="5212080"/>
            <a:ext cx="10698480" cy="1097280"/>
          </a:xfrm>
          <a:prstGeom prst="roundRect">
            <a:avLst/>
          </a:prstGeom>
          <a:solidFill>
            <a:srgbClr val="E4EEE8"/>
          </a:solidFill>
          <a:ln w="12700">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1100" b="1">
                <a:solidFill>
                  <a:srgbClr val="1B4332"/>
                </a:solidFill>
              </a:defRPr>
            </a:pPr>
            <a:r>
              <a:t>🎯 PROJECT MISSION &amp; VALUE PROPOSITION</a:t>
            </a:r>
          </a:p>
          <a:p>
            <a:pPr>
              <a:spcBef>
                <a:spcPts val="400"/>
              </a:spcBef>
              <a:defRPr sz="1100">
                <a:solidFill>
                  <a:srgbClr val="16160F"/>
                </a:solidFill>
              </a:defRPr>
            </a:pPr>
            <a:r>
              <a:t>SkillSwap democratizes lifelong learning by transforming hidden individual competencies into shared community capital. By anchoring recommendations to deterministic skill overlaps and augmenting with AI semantic reasoning, it delivers authentic, verifiable peer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PROBLEM DEFINITION</a:t>
            </a:r>
          </a:p>
          <a:p>
            <a:pPr>
              <a:defRPr sz="2200" b="1">
                <a:solidFill>
                  <a:srgbClr val="FFFFFF"/>
                </a:solidFill>
                <a:latin typeface="Calibri"/>
              </a:defRPr>
            </a:pPr>
            <a:r>
              <a:t>Problem Statement — Challenges in Skill Learning</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21208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500" b="1">
                <a:solidFill>
                  <a:srgbClr val="1B4332"/>
                </a:solidFill>
              </a:defRPr>
            </a:pPr>
            <a:r>
              <a:t>💸 Financial Barriers in Education</a:t>
            </a:r>
          </a:p>
          <a:p>
            <a:pPr>
              <a:spcBef>
                <a:spcPts val="800"/>
              </a:spcBef>
              <a:defRPr sz="1200">
                <a:solidFill>
                  <a:srgbClr val="6B6858"/>
                </a:solidFill>
              </a:defRPr>
            </a:pPr>
            <a:r>
              <a:t>Online courses (Coursera, Udemy) and private tutors charge steep recurring subscription or hourly fees. High costs prevent economically diverse learners from mastering high-value crafts.</a:t>
            </a:r>
          </a:p>
        </p:txBody>
      </p:sp>
      <p:sp>
        <p:nvSpPr>
          <p:cNvPr id="6" name="Rounded Rectangle 5"/>
          <p:cNvSpPr/>
          <p:nvPr/>
        </p:nvSpPr>
        <p:spPr>
          <a:xfrm>
            <a:off x="6217920" y="1463040"/>
            <a:ext cx="521208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500" b="1">
                <a:solidFill>
                  <a:srgbClr val="1B4332"/>
                </a:solidFill>
              </a:defRPr>
            </a:pPr>
            <a:r>
              <a:t>📦 Latent &amp; Underutilized Expertise</a:t>
            </a:r>
          </a:p>
          <a:p>
            <a:pPr>
              <a:spcBef>
                <a:spcPts val="800"/>
              </a:spcBef>
              <a:defRPr sz="1200">
                <a:solidFill>
                  <a:srgbClr val="6B6858"/>
                </a:solidFill>
              </a:defRPr>
            </a:pPr>
            <a:r>
              <a:t>Millions of individuals possess practical skills (e.g., frontend coding, design, guitar, languages) but have no direct outlet to exchange their knowledge for topics they urgently need to learn.</a:t>
            </a:r>
          </a:p>
        </p:txBody>
      </p:sp>
      <p:sp>
        <p:nvSpPr>
          <p:cNvPr id="7" name="Rounded Rectangle 6"/>
          <p:cNvSpPr/>
          <p:nvPr/>
        </p:nvSpPr>
        <p:spPr>
          <a:xfrm>
            <a:off x="731520" y="3931920"/>
            <a:ext cx="521208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500" b="1">
                <a:solidFill>
                  <a:srgbClr val="1B4332"/>
                </a:solidFill>
              </a:defRPr>
            </a:pPr>
            <a:r>
              <a:t>🤝 Trust Deficits &amp; Lack of Accountability</a:t>
            </a:r>
          </a:p>
          <a:p>
            <a:pPr>
              <a:spcBef>
                <a:spcPts val="800"/>
              </a:spcBef>
              <a:defRPr sz="1200">
                <a:solidFill>
                  <a:srgbClr val="6B6858"/>
                </a:solidFill>
              </a:defRPr>
            </a:pPr>
            <a:r>
              <a:t>Conventional social platforms offer no structured verification. Without two-party verification, verified ratings, and work portfolios, users cannot evaluate the authenticity or credibility of peer instructors.</a:t>
            </a:r>
          </a:p>
        </p:txBody>
      </p:sp>
      <p:sp>
        <p:nvSpPr>
          <p:cNvPr id="8" name="Rounded Rectangle 7"/>
          <p:cNvSpPr/>
          <p:nvPr/>
        </p:nvSpPr>
        <p:spPr>
          <a:xfrm>
            <a:off x="6217920" y="3931920"/>
            <a:ext cx="521208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500" b="1">
                <a:solidFill>
                  <a:srgbClr val="1B4332"/>
                </a:solidFill>
              </a:defRPr>
            </a:pPr>
            <a:r>
              <a:t>🔀 Tool Fragmentation &amp; Coordination Friction</a:t>
            </a:r>
          </a:p>
          <a:p>
            <a:pPr>
              <a:spcBef>
                <a:spcPts val="800"/>
              </a:spcBef>
              <a:defRPr sz="1200">
                <a:solidFill>
                  <a:srgbClr val="6B6858"/>
                </a:solidFill>
              </a:defRPr>
            </a:pPr>
            <a:r>
              <a:t>Traditional informal exchanges force users to juggle WhatsApp for messaging, Zoom for calling, Google Calendar for scheduling, and third-party links for payments, leading to severe communication breakdown.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PROJECT SPECIFICATIONS</a:t>
            </a:r>
          </a:p>
          <a:p>
            <a:pPr>
              <a:defRPr sz="2200" b="1">
                <a:solidFill>
                  <a:srgbClr val="FFFFFF"/>
                </a:solidFill>
                <a:latin typeface="Calibri"/>
              </a:defRPr>
            </a:pPr>
            <a:r>
              <a:t>Project Objectives — Goals of SkillSwap</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212080" cy="146304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274320"/>
          <a:lstStyle/>
          <a:p>
            <a:pPr algn="ctr">
              <a:defRPr sz="1400" b="1">
                <a:solidFill>
                  <a:srgbClr val="1B4332"/>
                </a:solidFill>
              </a:defRPr>
            </a:pPr>
            <a:r>
              <a:t>1. Peer-to-Peer Barter Engine</a:t>
            </a:r>
          </a:p>
          <a:p>
            <a:pPr>
              <a:spcBef>
                <a:spcPts val="400"/>
              </a:spcBef>
              <a:defRPr sz="1100">
                <a:solidFill>
                  <a:srgbClr val="6B6858"/>
                </a:solidFill>
              </a:defRPr>
            </a:pPr>
            <a:r>
              <a:t>Build a symmetric exchange framework where users manage Offered and Wanted skills, enabling direct barter without fiat currency.</a:t>
            </a:r>
          </a:p>
        </p:txBody>
      </p:sp>
      <p:sp>
        <p:nvSpPr>
          <p:cNvPr id="6" name="Rounded Rectangle 5"/>
          <p:cNvSpPr/>
          <p:nvPr/>
        </p:nvSpPr>
        <p:spPr>
          <a:xfrm>
            <a:off x="6217920" y="1463040"/>
            <a:ext cx="5212080" cy="146304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274320"/>
          <a:lstStyle/>
          <a:p>
            <a:pPr algn="ctr">
              <a:defRPr sz="1400" b="1">
                <a:solidFill>
                  <a:srgbClr val="1B4332"/>
                </a:solidFill>
              </a:defRPr>
            </a:pPr>
            <a:r>
              <a:t>2. Hybrid AI Skill Matching</a:t>
            </a:r>
          </a:p>
          <a:p>
            <a:pPr>
              <a:spcBef>
                <a:spcPts val="400"/>
              </a:spcBef>
              <a:defRPr sz="1100">
                <a:solidFill>
                  <a:srgbClr val="6B6858"/>
                </a:solidFill>
              </a:defRPr>
            </a:pPr>
            <a:r>
              <a:t>Develop a two-tier recommendation engine combining deterministic progressive diminishing-returns scoring with Google Gemini Flash semantic re-ranking.</a:t>
            </a:r>
          </a:p>
        </p:txBody>
      </p:sp>
      <p:sp>
        <p:nvSpPr>
          <p:cNvPr id="7" name="Rounded Rectangle 6"/>
          <p:cNvSpPr/>
          <p:nvPr/>
        </p:nvSpPr>
        <p:spPr>
          <a:xfrm>
            <a:off x="731520" y="3108960"/>
            <a:ext cx="5212080" cy="146304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274320"/>
          <a:lstStyle/>
          <a:p>
            <a:pPr algn="ctr">
              <a:defRPr sz="1400" b="1">
                <a:solidFill>
                  <a:srgbClr val="1B4332"/>
                </a:solidFill>
              </a:defRPr>
            </a:pPr>
            <a:r>
              <a:t>3. Unified Communication Hub</a:t>
            </a:r>
          </a:p>
          <a:p>
            <a:pPr>
              <a:spcBef>
                <a:spcPts val="400"/>
              </a:spcBef>
              <a:defRPr sz="1100">
                <a:solidFill>
                  <a:srgbClr val="6B6858"/>
                </a:solidFill>
              </a:defRPr>
            </a:pPr>
            <a:r>
              <a:t>Integrate real-time Socket.IO chat (with sent/delivered/read receipts) and in-browser WebRTC private video calling via embedded Jitsi Meet.</a:t>
            </a:r>
          </a:p>
        </p:txBody>
      </p:sp>
      <p:sp>
        <p:nvSpPr>
          <p:cNvPr id="8" name="Rounded Rectangle 7"/>
          <p:cNvSpPr/>
          <p:nvPr/>
        </p:nvSpPr>
        <p:spPr>
          <a:xfrm>
            <a:off x="6217920" y="3108960"/>
            <a:ext cx="5212080" cy="146304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274320"/>
          <a:lstStyle/>
          <a:p>
            <a:pPr algn="ctr">
              <a:defRPr sz="1400" b="1">
                <a:solidFill>
                  <a:srgbClr val="1B4332"/>
                </a:solidFill>
              </a:defRPr>
            </a:pPr>
            <a:r>
              <a:t>4. Trust &amp; Reputation Architecture</a:t>
            </a:r>
          </a:p>
          <a:p>
            <a:pPr>
              <a:spcBef>
                <a:spcPts val="400"/>
              </a:spcBef>
              <a:defRPr sz="1100">
                <a:solidFill>
                  <a:srgbClr val="6B6858"/>
                </a:solidFill>
              </a:defRPr>
            </a:pPr>
            <a:r>
              <a:t>Enforce two-party completion confirmations before ratings unlock; dynamically aggregate server-managed reputation scores exclusively from verified swaps.</a:t>
            </a:r>
          </a:p>
        </p:txBody>
      </p:sp>
      <p:sp>
        <p:nvSpPr>
          <p:cNvPr id="9" name="Rounded Rectangle 8"/>
          <p:cNvSpPr/>
          <p:nvPr/>
        </p:nvSpPr>
        <p:spPr>
          <a:xfrm>
            <a:off x="731520" y="4754880"/>
            <a:ext cx="5212080" cy="146304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274320"/>
          <a:lstStyle/>
          <a:p>
            <a:pPr algn="ctr">
              <a:defRPr sz="1400" b="1">
                <a:solidFill>
                  <a:srgbClr val="1B4332"/>
                </a:solidFill>
              </a:defRPr>
            </a:pPr>
            <a:r>
              <a:t>5. Portfolio Media Showcase</a:t>
            </a:r>
          </a:p>
          <a:p>
            <a:pPr>
              <a:spcBef>
                <a:spcPts val="400"/>
              </a:spcBef>
              <a:defRPr sz="1100">
                <a:solidFill>
                  <a:srgbClr val="6B6858"/>
                </a:solidFill>
              </a:defRPr>
            </a:pPr>
            <a:r>
              <a:t>Implement an Instagram-style media gallery supporting signed Cloudinary image and video uploads, emoji reactions, and 5-second atomic undo protection.</a:t>
            </a:r>
          </a:p>
        </p:txBody>
      </p:sp>
      <p:sp>
        <p:nvSpPr>
          <p:cNvPr id="10" name="Rounded Rectangle 9"/>
          <p:cNvSpPr/>
          <p:nvPr/>
        </p:nvSpPr>
        <p:spPr>
          <a:xfrm>
            <a:off x="6217920" y="4754880"/>
            <a:ext cx="5212080" cy="146304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274320"/>
          <a:lstStyle/>
          <a:p>
            <a:pPr algn="ctr">
              <a:defRPr sz="1400" b="1">
                <a:solidFill>
                  <a:srgbClr val="1B4332"/>
                </a:solidFill>
              </a:defRPr>
            </a:pPr>
            <a:r>
              <a:t>6. Production-Grade UI/UX</a:t>
            </a:r>
          </a:p>
          <a:p>
            <a:pPr>
              <a:spcBef>
                <a:spcPts val="400"/>
              </a:spcBef>
              <a:defRPr sz="1100">
                <a:solidFill>
                  <a:srgbClr val="6B6858"/>
                </a:solidFill>
              </a:defRPr>
            </a:pPr>
            <a:r>
              <a:t>Deliver a responsive Single Page App featuring scroll-driven 3D WebGL scenes (Three.js), complete System/Light/Dark mode with zero FOUC, and accessible mobile bottom navigation.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SOLUTION ARCHITECTURE</a:t>
            </a:r>
          </a:p>
          <a:p>
            <a:pPr>
              <a:defRPr sz="2200" b="1">
                <a:solidFill>
                  <a:srgbClr val="FFFFFF"/>
                </a:solidFill>
                <a:latin typeface="Calibri"/>
              </a:defRPr>
            </a:pPr>
            <a:r>
              <a:t>Proposed Solution — How SkillSwap Works</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2514600" cy="34747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defRPr sz="1100" b="1">
                <a:solidFill>
                  <a:srgbClr val="3FA873"/>
                </a:solidFill>
              </a:defRPr>
            </a:pPr>
            <a:r>
              <a:t>01. Profile &amp; Taxonomy</a:t>
            </a:r>
          </a:p>
          <a:p>
            <a:pPr>
              <a:spcBef>
                <a:spcPts val="600"/>
              </a:spcBef>
              <a:defRPr sz="1400" b="1">
                <a:solidFill>
                  <a:srgbClr val="16160F"/>
                </a:solidFill>
              </a:defRPr>
            </a:pPr>
            <a:r>
              <a:t>Skills Offered &amp; Wanted</a:t>
            </a:r>
          </a:p>
          <a:p>
            <a:pPr>
              <a:spcBef>
                <a:spcPts val="1000"/>
              </a:spcBef>
              <a:defRPr sz="1100">
                <a:solidFill>
                  <a:srgbClr val="6B6858"/>
                </a:solidFill>
              </a:defRPr>
            </a:pPr>
            <a:r>
              <a:t>Users define up to 5 teaching skills ('Offer') and learning goals ('Learn') categorized across 20 disciplines with defined proficiency levels.</a:t>
            </a:r>
          </a:p>
        </p:txBody>
      </p:sp>
      <p:sp>
        <p:nvSpPr>
          <p:cNvPr id="6" name="Rounded Rectangle 5"/>
          <p:cNvSpPr/>
          <p:nvPr/>
        </p:nvSpPr>
        <p:spPr>
          <a:xfrm>
            <a:off x="3474720" y="1463040"/>
            <a:ext cx="2514600" cy="34747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defRPr sz="1100" b="1">
                <a:solidFill>
                  <a:srgbClr val="3FA873"/>
                </a:solidFill>
              </a:defRPr>
            </a:pPr>
            <a:r>
              <a:t>02. Intelligent Discovery</a:t>
            </a:r>
          </a:p>
          <a:p>
            <a:pPr>
              <a:spcBef>
                <a:spcPts val="600"/>
              </a:spcBef>
              <a:defRPr sz="1400" b="1">
                <a:solidFill>
                  <a:srgbClr val="16160F"/>
                </a:solidFill>
              </a:defRPr>
            </a:pPr>
            <a:r>
              <a:t>Deterministic + Gemini AI</a:t>
            </a:r>
          </a:p>
          <a:p>
            <a:pPr>
              <a:spcBef>
                <a:spcPts val="1000"/>
              </a:spcBef>
              <a:defRPr sz="1100">
                <a:solidFill>
                  <a:srgbClr val="6B6858"/>
                </a:solidFill>
              </a:defRPr>
            </a:pPr>
            <a:r>
              <a:t>A progressive compatibility engine computes exact overlaps and category affinities; Gemini Flash evaluates domain relationships under a 70/30 hybrid anchor.</a:t>
            </a:r>
          </a:p>
        </p:txBody>
      </p:sp>
      <p:sp>
        <p:nvSpPr>
          <p:cNvPr id="7" name="Rounded Rectangle 6"/>
          <p:cNvSpPr/>
          <p:nvPr/>
        </p:nvSpPr>
        <p:spPr>
          <a:xfrm>
            <a:off x="6217920" y="1463040"/>
            <a:ext cx="2514600" cy="34747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defRPr sz="1100" b="1">
                <a:solidFill>
                  <a:srgbClr val="3FA873"/>
                </a:solidFill>
              </a:defRPr>
            </a:pPr>
            <a:r>
              <a:t>03. Real-Time Workspace</a:t>
            </a:r>
          </a:p>
          <a:p>
            <a:pPr>
              <a:spcBef>
                <a:spcPts val="600"/>
              </a:spcBef>
              <a:defRPr sz="1400" b="1">
                <a:solidFill>
                  <a:srgbClr val="16160F"/>
                </a:solidFill>
              </a:defRPr>
            </a:pPr>
            <a:r>
              <a:t>Live Chat &amp; Video Calling</a:t>
            </a:r>
          </a:p>
          <a:p>
            <a:pPr>
              <a:spcBef>
                <a:spcPts val="1000"/>
              </a:spcBef>
              <a:defRPr sz="1100">
                <a:solidFill>
                  <a:srgbClr val="6B6858"/>
                </a:solidFill>
              </a:defRPr>
            </a:pPr>
            <a:r>
              <a:t>Accepted swaps open dedicated Socket.IO chat rooms with delivery receipts and integrated one-click Jitsi Meet video conferencing without leaving the app.</a:t>
            </a:r>
          </a:p>
        </p:txBody>
      </p:sp>
      <p:sp>
        <p:nvSpPr>
          <p:cNvPr id="8" name="Rounded Rectangle 7"/>
          <p:cNvSpPr/>
          <p:nvPr/>
        </p:nvSpPr>
        <p:spPr>
          <a:xfrm>
            <a:off x="8961120" y="1463040"/>
            <a:ext cx="2514600" cy="34747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defRPr sz="1100" b="1">
                <a:solidFill>
                  <a:srgbClr val="3FA873"/>
                </a:solidFill>
              </a:defRPr>
            </a:pPr>
            <a:r>
              <a:t>04. Verified Completion</a:t>
            </a:r>
          </a:p>
          <a:p>
            <a:pPr>
              <a:spcBef>
                <a:spcPts val="600"/>
              </a:spcBef>
              <a:defRPr sz="1400" b="1">
                <a:solidFill>
                  <a:srgbClr val="16160F"/>
                </a:solidFill>
              </a:defRPr>
            </a:pPr>
            <a:r>
              <a:t>Two-Party Rating &amp; Reviews</a:t>
            </a:r>
          </a:p>
          <a:p>
            <a:pPr>
              <a:spcBef>
                <a:spcPts val="1000"/>
              </a:spcBef>
              <a:defRPr sz="1100">
                <a:solidFill>
                  <a:srgbClr val="6B6858"/>
                </a:solidFill>
              </a:defRPr>
            </a:pPr>
            <a:r>
              <a:t>Both parties must mutually confirm completion to finalize the swap, archiving conversations and unlocking verified 1-5 star reviews that drive reputation.</a:t>
            </a:r>
          </a:p>
        </p:txBody>
      </p:sp>
      <p:sp>
        <p:nvSpPr>
          <p:cNvPr id="9" name="Rounded Rectangle 8"/>
          <p:cNvSpPr/>
          <p:nvPr/>
        </p:nvSpPr>
        <p:spPr>
          <a:xfrm>
            <a:off x="731520" y="5166360"/>
            <a:ext cx="10698480" cy="1188720"/>
          </a:xfrm>
          <a:prstGeom prst="roundRect">
            <a:avLst/>
          </a:prstGeom>
          <a:solidFill>
            <a:srgbClr val="E4EEE8"/>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100" b="1">
                <a:solidFill>
                  <a:srgbClr val="1B4332"/>
                </a:solidFill>
              </a:defRPr>
            </a:pPr>
            <a:r>
              <a:t>✨ KEY DISTINCTION: EXISTING MARKETPLACE VS. SKILLSWAP</a:t>
            </a:r>
          </a:p>
          <a:p>
            <a:pPr>
              <a:spcBef>
                <a:spcPts val="400"/>
              </a:spcBef>
              <a:defRPr sz="1100">
                <a:solidFill>
                  <a:srgbClr val="16160F"/>
                </a:solidFill>
              </a:defRPr>
            </a:pPr>
            <a:r>
              <a:t>• Traditional Platforms: One-way transaction ($20–$100/hr) • Third-party fees • Fragmented tools • Unverified reviews</a:t>
            </a:r>
            <a:br/>
            <a:r>
              <a:t>• SkillSwap: Bilateral barter (0 Currency) • End-to-end integrated video &amp; chat • Mutual completion verification • Real portfolio proof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TECH SPECIFICATIONS</a:t>
            </a:r>
          </a:p>
          <a:p>
            <a:pPr>
              <a:defRPr sz="2200" b="1">
                <a:solidFill>
                  <a:srgbClr val="FFFFFF"/>
                </a:solidFill>
                <a:latin typeface="Calibri"/>
              </a:defRPr>
            </a:pPr>
            <a:r>
              <a:t>Technology Stack — Comprehensive Implementation</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383280" cy="48463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defRPr sz="1300" b="1">
                <a:solidFill>
                  <a:srgbClr val="1B4332"/>
                </a:solidFill>
              </a:defRPr>
            </a:pPr>
            <a:r>
              <a:t>FRONTEND CLIENT</a:t>
            </a:r>
          </a:p>
          <a:p>
            <a:pPr>
              <a:spcBef>
                <a:spcPts val="800"/>
              </a:spcBef>
              <a:defRPr sz="1200" b="1">
                <a:solidFill>
                  <a:srgbClr val="16160F"/>
                </a:solidFill>
              </a:defRPr>
            </a:pPr>
            <a:r>
              <a:t>• React 19</a:t>
            </a:r>
          </a:p>
          <a:p>
            <a:pPr>
              <a:defRPr sz="1000">
                <a:solidFill>
                  <a:srgbClr val="6B6858"/>
                </a:solidFill>
              </a:defRPr>
            </a:pPr>
            <a:r>
              <a:t>   Modern UI with React Compiler for automated memoization</a:t>
            </a:r>
          </a:p>
          <a:p>
            <a:pPr>
              <a:spcBef>
                <a:spcPts val="800"/>
              </a:spcBef>
              <a:defRPr sz="1200" b="1">
                <a:solidFill>
                  <a:srgbClr val="16160F"/>
                </a:solidFill>
              </a:defRPr>
            </a:pPr>
            <a:r>
              <a:t>• Vite 8</a:t>
            </a:r>
          </a:p>
          <a:p>
            <a:pPr>
              <a:defRPr sz="1000">
                <a:solidFill>
                  <a:srgbClr val="6B6858"/>
                </a:solidFill>
              </a:defRPr>
            </a:pPr>
            <a:r>
              <a:t>   High-performance build tooling &amp; instantaneous HMR</a:t>
            </a:r>
          </a:p>
          <a:p>
            <a:pPr>
              <a:spcBef>
                <a:spcPts val="800"/>
              </a:spcBef>
              <a:defRPr sz="1200" b="1">
                <a:solidFill>
                  <a:srgbClr val="16160F"/>
                </a:solidFill>
              </a:defRPr>
            </a:pPr>
            <a:r>
              <a:t>• Tailwind CSS v4</a:t>
            </a:r>
          </a:p>
          <a:p>
            <a:pPr>
              <a:defRPr sz="1000">
                <a:solidFill>
                  <a:srgbClr val="6B6858"/>
                </a:solidFill>
              </a:defRPr>
            </a:pPr>
            <a:r>
              <a:t>   Next-gen utility styling, CSS-first design tokens</a:t>
            </a:r>
          </a:p>
          <a:p>
            <a:pPr>
              <a:spcBef>
                <a:spcPts val="800"/>
              </a:spcBef>
              <a:defRPr sz="1200" b="1">
                <a:solidFill>
                  <a:srgbClr val="16160F"/>
                </a:solidFill>
              </a:defRPr>
            </a:pPr>
            <a:r>
              <a:t>• Three.js (WebGL)</a:t>
            </a:r>
          </a:p>
          <a:p>
            <a:pPr>
              <a:defRPr sz="1000">
                <a:solidFill>
                  <a:srgbClr val="6B6858"/>
                </a:solidFill>
              </a:defRPr>
            </a:pPr>
            <a:r>
              <a:t>   Scroll-driven 5-stage 3D landing page scene</a:t>
            </a:r>
          </a:p>
          <a:p>
            <a:pPr>
              <a:spcBef>
                <a:spcPts val="800"/>
              </a:spcBef>
              <a:defRPr sz="1200" b="1">
                <a:solidFill>
                  <a:srgbClr val="16160F"/>
                </a:solidFill>
              </a:defRPr>
            </a:pPr>
            <a:r>
              <a:t>• Socket.IO Client</a:t>
            </a:r>
          </a:p>
          <a:p>
            <a:pPr>
              <a:defRPr sz="1000">
                <a:solidFill>
                  <a:srgbClr val="6B6858"/>
                </a:solidFill>
              </a:defRPr>
            </a:pPr>
            <a:r>
              <a:t>   WebSocket client for live chat &amp; real-time badge sync</a:t>
            </a:r>
          </a:p>
        </p:txBody>
      </p:sp>
      <p:sp>
        <p:nvSpPr>
          <p:cNvPr id="6" name="Rounded Rectangle 5"/>
          <p:cNvSpPr/>
          <p:nvPr/>
        </p:nvSpPr>
        <p:spPr>
          <a:xfrm>
            <a:off x="4389120" y="1463040"/>
            <a:ext cx="3383280" cy="48463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defRPr sz="1300" b="1">
                <a:solidFill>
                  <a:srgbClr val="1B4332"/>
                </a:solidFill>
              </a:defRPr>
            </a:pPr>
            <a:r>
              <a:t>BACKEND SERVICES</a:t>
            </a:r>
          </a:p>
          <a:p>
            <a:pPr>
              <a:spcBef>
                <a:spcPts val="800"/>
              </a:spcBef>
              <a:defRPr sz="1200" b="1">
                <a:solidFill>
                  <a:srgbClr val="16160F"/>
                </a:solidFill>
              </a:defRPr>
            </a:pPr>
            <a:r>
              <a:t>• Node.js (v20+)</a:t>
            </a:r>
          </a:p>
          <a:p>
            <a:pPr>
              <a:defRPr sz="1000">
                <a:solidFill>
                  <a:srgbClr val="6B6858"/>
                </a:solidFill>
              </a:defRPr>
            </a:pPr>
            <a:r>
              <a:t>   Asynchronous event-driven server runtime</a:t>
            </a:r>
          </a:p>
          <a:p>
            <a:pPr>
              <a:spcBef>
                <a:spcPts val="800"/>
              </a:spcBef>
              <a:defRPr sz="1200" b="1">
                <a:solidFill>
                  <a:srgbClr val="16160F"/>
                </a:solidFill>
              </a:defRPr>
            </a:pPr>
            <a:r>
              <a:t>• Express.js v5</a:t>
            </a:r>
          </a:p>
          <a:p>
            <a:pPr>
              <a:defRPr sz="1000">
                <a:solidFill>
                  <a:srgbClr val="6B6858"/>
                </a:solidFill>
              </a:defRPr>
            </a:pPr>
            <a:r>
              <a:t>   REST API routing with native async error handling</a:t>
            </a:r>
          </a:p>
          <a:p>
            <a:pPr>
              <a:spcBef>
                <a:spcPts val="800"/>
              </a:spcBef>
              <a:defRPr sz="1200" b="1">
                <a:solidFill>
                  <a:srgbClr val="16160F"/>
                </a:solidFill>
              </a:defRPr>
            </a:pPr>
            <a:r>
              <a:t>• Socket.IO v4</a:t>
            </a:r>
          </a:p>
          <a:p>
            <a:pPr>
              <a:defRPr sz="1000">
                <a:solidFill>
                  <a:srgbClr val="6B6858"/>
                </a:solidFill>
              </a:defRPr>
            </a:pPr>
            <a:r>
              <a:t>   Room-based WebSocket server on same HTTP instance</a:t>
            </a:r>
          </a:p>
          <a:p>
            <a:pPr>
              <a:spcBef>
                <a:spcPts val="800"/>
              </a:spcBef>
              <a:defRPr sz="1200" b="1">
                <a:solidFill>
                  <a:srgbClr val="16160F"/>
                </a:solidFill>
              </a:defRPr>
            </a:pPr>
            <a:r>
              <a:t>• Zod &amp; Joi</a:t>
            </a:r>
          </a:p>
          <a:p>
            <a:pPr>
              <a:defRPr sz="1000">
                <a:solidFill>
                  <a:srgbClr val="6B6858"/>
                </a:solidFill>
              </a:defRPr>
            </a:pPr>
            <a:r>
              <a:t>   Strict schema validation before database access</a:t>
            </a:r>
          </a:p>
          <a:p>
            <a:pPr>
              <a:spcBef>
                <a:spcPts val="800"/>
              </a:spcBef>
              <a:defRPr sz="1200" b="1">
                <a:solidFill>
                  <a:srgbClr val="16160F"/>
                </a:solidFill>
              </a:defRPr>
            </a:pPr>
            <a:r>
              <a:t>• Bcrypt.js &amp; JWT</a:t>
            </a:r>
          </a:p>
          <a:p>
            <a:pPr>
              <a:defRPr sz="1000">
                <a:solidFill>
                  <a:srgbClr val="6B6858"/>
                </a:solidFill>
              </a:defRPr>
            </a:pPr>
            <a:r>
              <a:t>   Stateless auth, 10-round salted password hashing</a:t>
            </a:r>
          </a:p>
        </p:txBody>
      </p:sp>
      <p:sp>
        <p:nvSpPr>
          <p:cNvPr id="7" name="Rounded Rectangle 6"/>
          <p:cNvSpPr/>
          <p:nvPr/>
        </p:nvSpPr>
        <p:spPr>
          <a:xfrm>
            <a:off x="8046720" y="1463040"/>
            <a:ext cx="3383280" cy="48463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defRPr sz="1300" b="1">
                <a:solidFill>
                  <a:srgbClr val="1B4332"/>
                </a:solidFill>
              </a:defRPr>
            </a:pPr>
            <a:r>
              <a:t>DATABASE &amp; CLOUD</a:t>
            </a:r>
          </a:p>
          <a:p>
            <a:pPr>
              <a:spcBef>
                <a:spcPts val="800"/>
              </a:spcBef>
              <a:defRPr sz="1200" b="1">
                <a:solidFill>
                  <a:srgbClr val="16160F"/>
                </a:solidFill>
              </a:defRPr>
            </a:pPr>
            <a:r>
              <a:t>• MongoDB Atlas</a:t>
            </a:r>
          </a:p>
          <a:p>
            <a:pPr>
              <a:defRPr sz="1000">
                <a:solidFill>
                  <a:srgbClr val="6B6858"/>
                </a:solidFill>
              </a:defRPr>
            </a:pPr>
            <a:r>
              <a:t>   Multi-collection hosted NoSQL document database</a:t>
            </a:r>
          </a:p>
          <a:p>
            <a:pPr>
              <a:spcBef>
                <a:spcPts val="800"/>
              </a:spcBef>
              <a:defRPr sz="1200" b="1">
                <a:solidFill>
                  <a:srgbClr val="16160F"/>
                </a:solidFill>
              </a:defRPr>
            </a:pPr>
            <a:r>
              <a:t>• Mongoose v9</a:t>
            </a:r>
          </a:p>
          <a:p>
            <a:pPr>
              <a:defRPr sz="1000">
                <a:solidFill>
                  <a:srgbClr val="6B6858"/>
                </a:solidFill>
              </a:defRPr>
            </a:pPr>
            <a:r>
              <a:t>   Schema modeling, compound indexing &amp; aggregations</a:t>
            </a:r>
          </a:p>
          <a:p>
            <a:pPr>
              <a:spcBef>
                <a:spcPts val="800"/>
              </a:spcBef>
              <a:defRPr sz="1200" b="1">
                <a:solidFill>
                  <a:srgbClr val="16160F"/>
                </a:solidFill>
              </a:defRPr>
            </a:pPr>
            <a:r>
              <a:t>• Cloudinary SDK</a:t>
            </a:r>
          </a:p>
          <a:p>
            <a:pPr>
              <a:defRPr sz="1000">
                <a:solidFill>
                  <a:srgbClr val="6B6858"/>
                </a:solidFill>
              </a:defRPr>
            </a:pPr>
            <a:r>
              <a:t>   Signed image &amp; video uploads with auto lifecycle deletion</a:t>
            </a:r>
          </a:p>
          <a:p>
            <a:pPr>
              <a:spcBef>
                <a:spcPts val="800"/>
              </a:spcBef>
              <a:defRPr sz="1200" b="1">
                <a:solidFill>
                  <a:srgbClr val="16160F"/>
                </a:solidFill>
              </a:defRPr>
            </a:pPr>
            <a:r>
              <a:t>• Google Gemini Flash</a:t>
            </a:r>
          </a:p>
          <a:p>
            <a:pPr>
              <a:defRPr sz="1000">
                <a:solidFill>
                  <a:srgbClr val="6B6858"/>
                </a:solidFill>
              </a:defRPr>
            </a:pPr>
            <a:r>
              <a:t>   Semantic AI matching layer via @google/genai</a:t>
            </a:r>
          </a:p>
          <a:p>
            <a:pPr>
              <a:spcBef>
                <a:spcPts val="800"/>
              </a:spcBef>
              <a:defRPr sz="1200" b="1">
                <a:solidFill>
                  <a:srgbClr val="16160F"/>
                </a:solidFill>
              </a:defRPr>
            </a:pPr>
            <a:r>
              <a:t>• Jitsi Meet API</a:t>
            </a:r>
          </a:p>
          <a:p>
            <a:pPr>
              <a:defRPr sz="1000">
                <a:solidFill>
                  <a:srgbClr val="6B6858"/>
                </a:solidFill>
              </a:defRPr>
            </a:pPr>
            <a:r>
              <a:t>   Zero-account WebRTC private video conferencing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ARCHITECTURE</a:t>
            </a:r>
          </a:p>
          <a:p>
            <a:pPr>
              <a:defRPr sz="2200" b="1">
                <a:solidFill>
                  <a:srgbClr val="FFFFFF"/>
                </a:solidFill>
                <a:latin typeface="Calibri"/>
              </a:defRPr>
            </a:pPr>
            <a:r>
              <a:t>System Architecture — Component Topology</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108960" cy="4846320"/>
          </a:xfrm>
          <a:prstGeom prst="roundRect">
            <a:avLst/>
          </a:prstGeom>
          <a:solidFill>
            <a:srgbClr val="F0F4F1"/>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200" b="1">
                <a:solidFill>
                  <a:srgbClr val="1B4332"/>
                </a:solidFill>
              </a:defRPr>
            </a:pPr>
            <a:r>
              <a:t>CLIENT LAYER (SPA)</a:t>
            </a:r>
          </a:p>
          <a:p>
            <a:pPr>
              <a:spcBef>
                <a:spcPts val="800"/>
              </a:spcBef>
              <a:defRPr sz="1100" b="1">
                <a:solidFill>
                  <a:srgbClr val="16160F"/>
                </a:solidFill>
              </a:defRPr>
            </a:pPr>
            <a:r>
              <a:t>• React 19 Pages</a:t>
            </a:r>
          </a:p>
          <a:p>
            <a:pPr>
              <a:defRPr sz="1000">
                <a:solidFill>
                  <a:srgbClr val="6B6858"/>
                </a:solidFill>
              </a:defRPr>
            </a:pPr>
            <a:r>
              <a:t>13 Route views: Dashboard, Discover, Matches, Swaps, Chats, Profile, etc.</a:t>
            </a:r>
          </a:p>
          <a:p>
            <a:pPr>
              <a:spcBef>
                <a:spcPts val="800"/>
              </a:spcBef>
              <a:defRPr sz="1100" b="1">
                <a:solidFill>
                  <a:srgbClr val="16160F"/>
                </a:solidFill>
              </a:defRPr>
            </a:pPr>
            <a:r>
              <a:t>• Context State</a:t>
            </a:r>
          </a:p>
          <a:p>
            <a:pPr>
              <a:defRPr sz="1000">
                <a:solidFill>
                  <a:srgbClr val="6B6858"/>
                </a:solidFill>
              </a:defRPr>
            </a:pPr>
            <a:r>
              <a:t>AuthContext, SocketContext, ThemeContext, NotificationContext</a:t>
            </a:r>
          </a:p>
          <a:p>
            <a:pPr>
              <a:spcBef>
                <a:spcPts val="800"/>
              </a:spcBef>
              <a:defRPr sz="1100" b="1">
                <a:solidFill>
                  <a:srgbClr val="16160F"/>
                </a:solidFill>
              </a:defRPr>
            </a:pPr>
            <a:r>
              <a:t>• Service Wrappers</a:t>
            </a:r>
          </a:p>
          <a:p>
            <a:pPr>
              <a:defRPr sz="1000">
                <a:solidFill>
                  <a:srgbClr val="6B6858"/>
                </a:solidFill>
              </a:defRPr>
            </a:pPr>
            <a:r>
              <a:t>Axios clients with JWT bearer interceptors</a:t>
            </a:r>
          </a:p>
          <a:p>
            <a:pPr>
              <a:spcBef>
                <a:spcPts val="800"/>
              </a:spcBef>
              <a:defRPr sz="1100" b="1">
                <a:solidFill>
                  <a:srgbClr val="16160F"/>
                </a:solidFill>
              </a:defRPr>
            </a:pPr>
            <a:r>
              <a:t>• 3D Engine</a:t>
            </a:r>
          </a:p>
          <a:p>
            <a:pPr>
              <a:defRPr sz="1000">
                <a:solidFill>
                  <a:srgbClr val="6B6858"/>
                </a:solidFill>
              </a:defRPr>
            </a:pPr>
            <a:r>
              <a:t>Three.js WebGL canvas for unauthenticated landing page</a:t>
            </a:r>
          </a:p>
        </p:txBody>
      </p:sp>
      <p:sp>
        <p:nvSpPr>
          <p:cNvPr id="6" name="Rounded Rectangle 5"/>
          <p:cNvSpPr/>
          <p:nvPr/>
        </p:nvSpPr>
        <p:spPr>
          <a:xfrm>
            <a:off x="4206240" y="1463040"/>
            <a:ext cx="3840480" cy="4846320"/>
          </a:xfrm>
          <a:prstGeom prst="roundRect">
            <a:avLst/>
          </a:prstGeom>
          <a:solidFill>
            <a:srgbClr val="FFFFFF"/>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200" b="1">
                <a:solidFill>
                  <a:srgbClr val="1B4332"/>
                </a:solidFill>
              </a:defRPr>
            </a:pPr>
            <a:r>
              <a:t>EXPRESS.JS BACKEND MONOLITH</a:t>
            </a:r>
          </a:p>
          <a:p>
            <a:pPr>
              <a:spcBef>
                <a:spcPts val="800"/>
              </a:spcBef>
              <a:defRPr sz="1100" b="1">
                <a:solidFill>
                  <a:srgbClr val="16160F"/>
                </a:solidFill>
              </a:defRPr>
            </a:pPr>
            <a:r>
              <a:t>• REST API Routes (12)</a:t>
            </a:r>
          </a:p>
          <a:p>
            <a:pPr>
              <a:defRPr sz="1000">
                <a:solidFill>
                  <a:srgbClr val="6B6858"/>
                </a:solidFill>
              </a:defRPr>
            </a:pPr>
            <a:r>
              <a:t>/api/auth, /profile, /skills, /discover, /swaps, /chat, /meetings, /ratings, etc.</a:t>
            </a:r>
          </a:p>
          <a:p>
            <a:pPr>
              <a:spcBef>
                <a:spcPts val="800"/>
              </a:spcBef>
              <a:defRPr sz="1100" b="1">
                <a:solidFill>
                  <a:srgbClr val="16160F"/>
                </a:solidFill>
              </a:defRPr>
            </a:pPr>
            <a:r>
              <a:t>• Thin Controllers, Fat Services</a:t>
            </a:r>
          </a:p>
          <a:p>
            <a:pPr>
              <a:defRPr sz="1000">
                <a:solidFill>
                  <a:srgbClr val="6B6858"/>
                </a:solidFill>
              </a:defRPr>
            </a:pPr>
            <a:r>
              <a:t>Business logic isolated in dedicated testable service modules</a:t>
            </a:r>
          </a:p>
          <a:p>
            <a:pPr>
              <a:spcBef>
                <a:spcPts val="800"/>
              </a:spcBef>
              <a:defRPr sz="1100" b="1">
                <a:solidFill>
                  <a:srgbClr val="16160F"/>
                </a:solidFill>
              </a:defRPr>
            </a:pPr>
            <a:r>
              <a:t>• Socket.IO Engine</a:t>
            </a:r>
          </a:p>
          <a:p>
            <a:pPr>
              <a:defRPr sz="1000">
                <a:solidFill>
                  <a:srgbClr val="6B6858"/>
                </a:solidFill>
              </a:defRPr>
            </a:pPr>
            <a:r>
              <a:t>Rooms: 'swap:&lt;swapId&gt;' (chat) &amp; 'user:&lt;userId&gt;' (real-time notifications)</a:t>
            </a:r>
          </a:p>
          <a:p>
            <a:pPr>
              <a:spcBef>
                <a:spcPts val="800"/>
              </a:spcBef>
              <a:defRPr sz="1100" b="1">
                <a:solidFill>
                  <a:srgbClr val="16160F"/>
                </a:solidFill>
              </a:defRPr>
            </a:pPr>
            <a:r>
              <a:t>• Background Jobs</a:t>
            </a:r>
          </a:p>
          <a:p>
            <a:pPr>
              <a:defRPr sz="1000">
                <a:solidFill>
                  <a:srgbClr val="6B6858"/>
                </a:solidFill>
              </a:defRPr>
            </a:pPr>
            <a:r>
              <a:t>Atomic 30s scheduler for 15-min and start-time meeting reminders</a:t>
            </a:r>
          </a:p>
          <a:p>
            <a:pPr>
              <a:spcBef>
                <a:spcPts val="800"/>
              </a:spcBef>
              <a:defRPr sz="1100" b="1">
                <a:solidFill>
                  <a:srgbClr val="16160F"/>
                </a:solidFill>
              </a:defRPr>
            </a:pPr>
            <a:r>
              <a:t>• Validation &amp; Auth Guards</a:t>
            </a:r>
          </a:p>
          <a:p>
            <a:pPr>
              <a:defRPr sz="1000">
                <a:solidFill>
                  <a:srgbClr val="6B6858"/>
                </a:solidFill>
              </a:defRPr>
            </a:pPr>
            <a:r>
              <a:t>Zod schemas + JWT verification middleware on all protected endpoints</a:t>
            </a:r>
          </a:p>
        </p:txBody>
      </p:sp>
      <p:sp>
        <p:nvSpPr>
          <p:cNvPr id="7" name="Rounded Rectangle 6"/>
          <p:cNvSpPr/>
          <p:nvPr/>
        </p:nvSpPr>
        <p:spPr>
          <a:xfrm>
            <a:off x="8412480" y="1463040"/>
            <a:ext cx="3017520" cy="4846320"/>
          </a:xfrm>
          <a:prstGeom prst="roundRect">
            <a:avLst/>
          </a:prstGeom>
          <a:solidFill>
            <a:srgbClr val="F0F4F1"/>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200" b="1">
                <a:solidFill>
                  <a:srgbClr val="1B4332"/>
                </a:solidFill>
              </a:defRPr>
            </a:pPr>
            <a:r>
              <a:t>EXTERNAL SERVICES</a:t>
            </a:r>
          </a:p>
          <a:p>
            <a:pPr>
              <a:spcBef>
                <a:spcPts val="800"/>
              </a:spcBef>
              <a:defRPr sz="1100" b="1">
                <a:solidFill>
                  <a:srgbClr val="16160F"/>
                </a:solidFill>
              </a:defRPr>
            </a:pPr>
            <a:r>
              <a:t>• MongoDB Atlas</a:t>
            </a:r>
          </a:p>
          <a:p>
            <a:pPr>
              <a:defRPr sz="1000">
                <a:solidFill>
                  <a:srgbClr val="6B6858"/>
                </a:solidFill>
              </a:defRPr>
            </a:pPr>
            <a:r>
              <a:t>9 Collections with compound unique indexes &amp; aggregation pipelines</a:t>
            </a:r>
          </a:p>
          <a:p>
            <a:pPr>
              <a:spcBef>
                <a:spcPts val="800"/>
              </a:spcBef>
              <a:defRPr sz="1100" b="1">
                <a:solidFill>
                  <a:srgbClr val="16160F"/>
                </a:solidFill>
              </a:defRPr>
            </a:pPr>
            <a:r>
              <a:t>• Cloudinary Cloud Media</a:t>
            </a:r>
          </a:p>
          <a:p>
            <a:pPr>
              <a:defRPr sz="1000">
                <a:solidFill>
                  <a:srgbClr val="6B6858"/>
                </a:solidFill>
              </a:defRPr>
            </a:pPr>
            <a:r>
              <a:t>Storage for avatars, banners, and portfolio media with lifecycle cleanup</a:t>
            </a:r>
          </a:p>
          <a:p>
            <a:pPr>
              <a:spcBef>
                <a:spcPts val="800"/>
              </a:spcBef>
              <a:defRPr sz="1100" b="1">
                <a:solidFill>
                  <a:srgbClr val="16160F"/>
                </a:solidFill>
              </a:defRPr>
            </a:pPr>
            <a:r>
              <a:t>• Google Gemini Flash</a:t>
            </a:r>
          </a:p>
          <a:p>
            <a:pPr>
              <a:defRPr sz="1000">
                <a:solidFill>
                  <a:srgbClr val="6B6858"/>
                </a:solidFill>
              </a:defRPr>
            </a:pPr>
            <a:r>
              <a:t>Semantic AI matching for taxonomy relations via @google/genai</a:t>
            </a:r>
          </a:p>
          <a:p>
            <a:pPr>
              <a:spcBef>
                <a:spcPts val="800"/>
              </a:spcBef>
              <a:defRPr sz="1100" b="1">
                <a:solidFill>
                  <a:srgbClr val="16160F"/>
                </a:solidFill>
              </a:defRPr>
            </a:pPr>
            <a:r>
              <a:t>• Jitsi Meet WebRTC</a:t>
            </a:r>
          </a:p>
          <a:p>
            <a:pPr>
              <a:defRPr sz="1000">
                <a:solidFill>
                  <a:srgbClr val="6B6858"/>
                </a:solidFill>
              </a:defRPr>
            </a:pPr>
            <a:r>
              <a:t>Embedded private video conferencing rooms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PROCESS FLOWCHART</a:t>
            </a:r>
          </a:p>
          <a:p>
            <a:pPr>
              <a:defRPr sz="2200" b="1">
                <a:solidFill>
                  <a:srgbClr val="FFFFFF"/>
                </a:solidFill>
                <a:latin typeface="Calibri"/>
              </a:defRPr>
            </a:pPr>
            <a:r>
              <a:t>Application Workflow — End-to-End User Journey</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256032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defRPr sz="1000" b="1">
                <a:solidFill>
                  <a:srgbClr val="3FA873"/>
                </a:solidFill>
              </a:defRPr>
            </a:pPr>
            <a:r>
              <a:t>STEP 1</a:t>
            </a:r>
          </a:p>
          <a:p>
            <a:pPr>
              <a:spcBef>
                <a:spcPts val="400"/>
              </a:spcBef>
              <a:defRPr sz="1300" b="1">
                <a:solidFill>
                  <a:srgbClr val="1B4332"/>
                </a:solidFill>
              </a:defRPr>
            </a:pPr>
            <a:r>
              <a:t>1. Onboard</a:t>
            </a:r>
          </a:p>
          <a:p>
            <a:pPr>
              <a:spcBef>
                <a:spcPts val="800"/>
              </a:spcBef>
              <a:defRPr sz="1100">
                <a:solidFill>
                  <a:srgbClr val="6B6858"/>
                </a:solidFill>
              </a:defRPr>
            </a:pPr>
            <a:r>
              <a:t>Sign up with email/password; setup profile with location, bio, and avatar.</a:t>
            </a:r>
          </a:p>
        </p:txBody>
      </p:sp>
      <p:sp>
        <p:nvSpPr>
          <p:cNvPr id="6" name="Rounded Rectangle 5"/>
          <p:cNvSpPr/>
          <p:nvPr/>
        </p:nvSpPr>
        <p:spPr>
          <a:xfrm>
            <a:off x="3429000" y="1463040"/>
            <a:ext cx="256032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defRPr sz="1000" b="1">
                <a:solidFill>
                  <a:srgbClr val="3FA873"/>
                </a:solidFill>
              </a:defRPr>
            </a:pPr>
            <a:r>
              <a:t>STEP 2</a:t>
            </a:r>
          </a:p>
          <a:p>
            <a:pPr>
              <a:spcBef>
                <a:spcPts val="400"/>
              </a:spcBef>
              <a:defRPr sz="1300" b="1">
                <a:solidFill>
                  <a:srgbClr val="1B4332"/>
                </a:solidFill>
              </a:defRPr>
            </a:pPr>
            <a:r>
              <a:t>2. Define Skills</a:t>
            </a:r>
          </a:p>
          <a:p>
            <a:pPr>
              <a:spcBef>
                <a:spcPts val="800"/>
              </a:spcBef>
              <a:defRPr sz="1100">
                <a:solidFill>
                  <a:srgbClr val="6B6858"/>
                </a:solidFill>
              </a:defRPr>
            </a:pPr>
            <a:r>
              <a:t>List Offered skills (what I teach) and Wanted skills (what I want to learn).</a:t>
            </a:r>
          </a:p>
        </p:txBody>
      </p:sp>
      <p:sp>
        <p:nvSpPr>
          <p:cNvPr id="7" name="Rounded Rectangle 6"/>
          <p:cNvSpPr/>
          <p:nvPr/>
        </p:nvSpPr>
        <p:spPr>
          <a:xfrm>
            <a:off x="6126480" y="1463040"/>
            <a:ext cx="256032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defRPr sz="1000" b="1">
                <a:solidFill>
                  <a:srgbClr val="3FA873"/>
                </a:solidFill>
              </a:defRPr>
            </a:pPr>
            <a:r>
              <a:t>STEP 3</a:t>
            </a:r>
          </a:p>
          <a:p>
            <a:pPr>
              <a:spcBef>
                <a:spcPts val="400"/>
              </a:spcBef>
              <a:defRPr sz="1300" b="1">
                <a:solidFill>
                  <a:srgbClr val="1B4332"/>
                </a:solidFill>
              </a:defRPr>
            </a:pPr>
            <a:r>
              <a:t>3. Discover / Match</a:t>
            </a:r>
          </a:p>
          <a:p>
            <a:pPr>
              <a:spcBef>
                <a:spcPts val="800"/>
              </a:spcBef>
              <a:defRPr sz="1100">
                <a:solidFill>
                  <a:srgbClr val="6B6858"/>
                </a:solidFill>
              </a:defRPr>
            </a:pPr>
            <a:r>
              <a:t>Browse Discover grid or view AI-ranked Matches with compatibility %.</a:t>
            </a:r>
          </a:p>
        </p:txBody>
      </p:sp>
      <p:sp>
        <p:nvSpPr>
          <p:cNvPr id="8" name="Rounded Rectangle 7"/>
          <p:cNvSpPr/>
          <p:nvPr/>
        </p:nvSpPr>
        <p:spPr>
          <a:xfrm>
            <a:off x="8823960" y="1463040"/>
            <a:ext cx="256032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defRPr sz="1000" b="1">
                <a:solidFill>
                  <a:srgbClr val="3FA873"/>
                </a:solidFill>
              </a:defRPr>
            </a:pPr>
            <a:r>
              <a:t>STEP 4</a:t>
            </a:r>
          </a:p>
          <a:p>
            <a:pPr>
              <a:spcBef>
                <a:spcPts val="400"/>
              </a:spcBef>
              <a:defRPr sz="1300" b="1">
                <a:solidFill>
                  <a:srgbClr val="1B4332"/>
                </a:solidFill>
              </a:defRPr>
            </a:pPr>
            <a:r>
              <a:t>4. Swap Proposal</a:t>
            </a:r>
          </a:p>
          <a:p>
            <a:pPr>
              <a:spcBef>
                <a:spcPts val="800"/>
              </a:spcBef>
              <a:defRPr sz="1100">
                <a:solidFill>
                  <a:srgbClr val="6B6858"/>
                </a:solidFill>
              </a:defRPr>
            </a:pPr>
            <a:r>
              <a:t>Select candidate, choose reciprocal skills, and submit swap proposal.</a:t>
            </a:r>
          </a:p>
        </p:txBody>
      </p:sp>
      <p:sp>
        <p:nvSpPr>
          <p:cNvPr id="9" name="Rounded Rectangle 8"/>
          <p:cNvSpPr/>
          <p:nvPr/>
        </p:nvSpPr>
        <p:spPr>
          <a:xfrm>
            <a:off x="731520" y="3931920"/>
            <a:ext cx="256032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defRPr sz="1000" b="1">
                <a:solidFill>
                  <a:srgbClr val="3FA873"/>
                </a:solidFill>
              </a:defRPr>
            </a:pPr>
            <a:r>
              <a:t>STEP 5</a:t>
            </a:r>
          </a:p>
          <a:p>
            <a:pPr>
              <a:spcBef>
                <a:spcPts val="400"/>
              </a:spcBef>
              <a:defRPr sz="1300" b="1">
                <a:solidFill>
                  <a:srgbClr val="1B4332"/>
                </a:solidFill>
              </a:defRPr>
            </a:pPr>
            <a:r>
              <a:t>5. Accept Swap</a:t>
            </a:r>
          </a:p>
          <a:p>
            <a:pPr>
              <a:spcBef>
                <a:spcPts val="800"/>
              </a:spcBef>
              <a:defRPr sz="1100">
                <a:solidFill>
                  <a:srgbClr val="6B6858"/>
                </a:solidFill>
              </a:defRPr>
            </a:pPr>
            <a:r>
              <a:t>Recipient reviews proposal and clicks 'Accept' to transition status.</a:t>
            </a:r>
          </a:p>
        </p:txBody>
      </p:sp>
      <p:sp>
        <p:nvSpPr>
          <p:cNvPr id="10" name="Rounded Rectangle 9"/>
          <p:cNvSpPr/>
          <p:nvPr/>
        </p:nvSpPr>
        <p:spPr>
          <a:xfrm>
            <a:off x="3429000" y="3931920"/>
            <a:ext cx="256032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defRPr sz="1000" b="1">
                <a:solidFill>
                  <a:srgbClr val="3FA873"/>
                </a:solidFill>
              </a:defRPr>
            </a:pPr>
            <a:r>
              <a:t>STEP 6</a:t>
            </a:r>
          </a:p>
          <a:p>
            <a:pPr>
              <a:spcBef>
                <a:spcPts val="400"/>
              </a:spcBef>
              <a:defRPr sz="1300" b="1">
                <a:solidFill>
                  <a:srgbClr val="1B4332"/>
                </a:solidFill>
              </a:defRPr>
            </a:pPr>
            <a:r>
              <a:t>6. Chat &amp; Meet</a:t>
            </a:r>
          </a:p>
          <a:p>
            <a:pPr>
              <a:spcBef>
                <a:spcPts val="800"/>
              </a:spcBef>
              <a:defRPr sz="1100">
                <a:solidFill>
                  <a:srgbClr val="6B6858"/>
                </a:solidFill>
              </a:defRPr>
            </a:pPr>
            <a:r>
              <a:t>Real-time chat activates with WhatsApp-style receipts &amp; Jitsi video calls.</a:t>
            </a:r>
          </a:p>
        </p:txBody>
      </p:sp>
      <p:sp>
        <p:nvSpPr>
          <p:cNvPr id="11" name="Rounded Rectangle 10"/>
          <p:cNvSpPr/>
          <p:nvPr/>
        </p:nvSpPr>
        <p:spPr>
          <a:xfrm>
            <a:off x="6126480" y="3931920"/>
            <a:ext cx="256032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defRPr sz="1000" b="1">
                <a:solidFill>
                  <a:srgbClr val="3FA873"/>
                </a:solidFill>
              </a:defRPr>
            </a:pPr>
            <a:r>
              <a:t>STEP 7</a:t>
            </a:r>
          </a:p>
          <a:p>
            <a:pPr>
              <a:spcBef>
                <a:spcPts val="400"/>
              </a:spcBef>
              <a:defRPr sz="1300" b="1">
                <a:solidFill>
                  <a:srgbClr val="1B4332"/>
                </a:solidFill>
              </a:defRPr>
            </a:pPr>
            <a:r>
              <a:t>7. Two-Party Done</a:t>
            </a:r>
          </a:p>
          <a:p>
            <a:pPr>
              <a:spcBef>
                <a:spcPts val="800"/>
              </a:spcBef>
              <a:defRPr sz="1100">
                <a:solidFill>
                  <a:srgbClr val="6B6858"/>
                </a:solidFill>
              </a:defRPr>
            </a:pPr>
            <a:r>
              <a:t>Participant clicks 'Mark Completed'; partner confirms completion.</a:t>
            </a:r>
          </a:p>
        </p:txBody>
      </p:sp>
      <p:sp>
        <p:nvSpPr>
          <p:cNvPr id="12" name="Rounded Rectangle 11"/>
          <p:cNvSpPr/>
          <p:nvPr/>
        </p:nvSpPr>
        <p:spPr>
          <a:xfrm>
            <a:off x="8823960" y="3931920"/>
            <a:ext cx="2560320" cy="219456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defRPr sz="1000" b="1">
                <a:solidFill>
                  <a:srgbClr val="3FA873"/>
                </a:solidFill>
              </a:defRPr>
            </a:pPr>
            <a:r>
              <a:t>STEP 8</a:t>
            </a:r>
          </a:p>
          <a:p>
            <a:pPr>
              <a:spcBef>
                <a:spcPts val="400"/>
              </a:spcBef>
              <a:defRPr sz="1300" b="1">
                <a:solidFill>
                  <a:srgbClr val="1B4332"/>
                </a:solidFill>
              </a:defRPr>
            </a:pPr>
            <a:r>
              <a:t>8. Rate &amp; Review</a:t>
            </a:r>
          </a:p>
          <a:p>
            <a:pPr>
              <a:spcBef>
                <a:spcPts val="800"/>
              </a:spcBef>
              <a:defRPr sz="1100">
                <a:solidFill>
                  <a:srgbClr val="6B6858"/>
                </a:solidFill>
              </a:defRPr>
            </a:pPr>
            <a:r>
              <a:t>Both leave 1-5 star reviews; server recalculates average reputation.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CORE CAPABILITIES</a:t>
            </a:r>
          </a:p>
          <a:p>
            <a:pPr>
              <a:defRPr sz="2200" b="1">
                <a:solidFill>
                  <a:srgbClr val="FFFFFF"/>
                </a:solidFill>
                <a:latin typeface="Calibri"/>
              </a:defRPr>
            </a:pPr>
            <a:r>
              <a:t>Key Implemented Features</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212080" cy="1115568"/>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200" b="1">
                <a:solidFill>
                  <a:srgbClr val="1B4332"/>
                </a:solidFill>
              </a:defRPr>
            </a:pPr>
            <a:r>
              <a:t>🎨 3D WebGL Landing Page</a:t>
            </a:r>
          </a:p>
          <a:p>
            <a:pPr>
              <a:spcBef>
                <a:spcPts val="300"/>
              </a:spcBef>
              <a:defRPr sz="1050">
                <a:solidFill>
                  <a:srgbClr val="6B6858"/>
                </a:solidFill>
              </a:defRPr>
            </a:pPr>
            <a:r>
              <a:t>Cinematic Three.js scroll journey with abstract sculptural avatars, frosted glass skill capsules, and mobile GPU optimization.</a:t>
            </a:r>
          </a:p>
        </p:txBody>
      </p:sp>
      <p:sp>
        <p:nvSpPr>
          <p:cNvPr id="6" name="Rounded Rectangle 5"/>
          <p:cNvSpPr/>
          <p:nvPr/>
        </p:nvSpPr>
        <p:spPr>
          <a:xfrm>
            <a:off x="6217920" y="1417320"/>
            <a:ext cx="5212080" cy="1115568"/>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200" b="1">
                <a:solidFill>
                  <a:srgbClr val="1B4332"/>
                </a:solidFill>
              </a:defRPr>
            </a:pPr>
            <a:r>
              <a:t>🌓 Zero-FOUC Dark Mode</a:t>
            </a:r>
          </a:p>
          <a:p>
            <a:pPr>
              <a:spcBef>
                <a:spcPts val="300"/>
              </a:spcBef>
              <a:defRPr sz="1050">
                <a:solidFill>
                  <a:srgbClr val="6B6858"/>
                </a:solidFill>
              </a:defRPr>
            </a:pPr>
            <a:r>
              <a:t>System/Light/Dark switching with synchronous inline &lt;head&gt; evaluation preventing any unstyled content flash.</a:t>
            </a:r>
          </a:p>
        </p:txBody>
      </p:sp>
      <p:sp>
        <p:nvSpPr>
          <p:cNvPr id="7" name="Rounded Rectangle 6"/>
          <p:cNvSpPr/>
          <p:nvPr/>
        </p:nvSpPr>
        <p:spPr>
          <a:xfrm>
            <a:off x="731520" y="2651760"/>
            <a:ext cx="5212080" cy="1115568"/>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200" b="1">
                <a:solidFill>
                  <a:srgbClr val="1B4332"/>
                </a:solidFill>
              </a:defRPr>
            </a:pPr>
            <a:r>
              <a:t>🔄 Multi-State Swap Machine</a:t>
            </a:r>
          </a:p>
          <a:p>
            <a:pPr>
              <a:spcBef>
                <a:spcPts val="300"/>
              </a:spcBef>
              <a:defRPr sz="1050">
                <a:solidFill>
                  <a:srgbClr val="6B6858"/>
                </a:solidFill>
              </a:defRPr>
            </a:pPr>
            <a:r>
              <a:t>Full state machine (pending -&gt; accepted -&gt; completed, or rejected/cancelled/left) with atomic two-party completion protection.</a:t>
            </a:r>
          </a:p>
        </p:txBody>
      </p:sp>
      <p:sp>
        <p:nvSpPr>
          <p:cNvPr id="8" name="Rounded Rectangle 7"/>
          <p:cNvSpPr/>
          <p:nvPr/>
        </p:nvSpPr>
        <p:spPr>
          <a:xfrm>
            <a:off x="6217920" y="2651760"/>
            <a:ext cx="5212080" cy="1115568"/>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200" b="1">
                <a:solidFill>
                  <a:srgbClr val="1B4332"/>
                </a:solidFill>
              </a:defRPr>
            </a:pPr>
            <a:r>
              <a:t>💬 Live Socket.IO Chat</a:t>
            </a:r>
          </a:p>
          <a:p>
            <a:pPr>
              <a:spcBef>
                <a:spcPts val="300"/>
              </a:spcBef>
              <a:defRPr sz="1050">
                <a:solidFill>
                  <a:srgbClr val="6B6858"/>
                </a:solidFill>
              </a:defRPr>
            </a:pPr>
            <a:r>
              <a:t>Isolated swap rooms, persistent receipts (sent ✓ -&gt; delivered ✓✓ -&gt; read ✓✓), soft deletion, and date boundaries.</a:t>
            </a:r>
          </a:p>
        </p:txBody>
      </p:sp>
      <p:sp>
        <p:nvSpPr>
          <p:cNvPr id="9" name="Rounded Rectangle 8"/>
          <p:cNvSpPr/>
          <p:nvPr/>
        </p:nvSpPr>
        <p:spPr>
          <a:xfrm>
            <a:off x="731520" y="3886200"/>
            <a:ext cx="5212080" cy="1115568"/>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200" b="1">
                <a:solidFill>
                  <a:srgbClr val="1B4332"/>
                </a:solidFill>
              </a:defRPr>
            </a:pPr>
            <a:r>
              <a:t>📹 Integrated Jitsi Meetings</a:t>
            </a:r>
          </a:p>
          <a:p>
            <a:pPr>
              <a:spcBef>
                <a:spcPts val="300"/>
              </a:spcBef>
              <a:defRPr sz="1050">
                <a:solidFill>
                  <a:srgbClr val="6B6858"/>
                </a:solidFill>
              </a:defRPr>
            </a:pPr>
            <a:r>
              <a:t>Instant or scheduled video calls directly inside chat with atomic 30s background reminder worker (15m advance alerts).</a:t>
            </a:r>
          </a:p>
        </p:txBody>
      </p:sp>
      <p:sp>
        <p:nvSpPr>
          <p:cNvPr id="10" name="Rounded Rectangle 9"/>
          <p:cNvSpPr/>
          <p:nvPr/>
        </p:nvSpPr>
        <p:spPr>
          <a:xfrm>
            <a:off x="6217920" y="3886200"/>
            <a:ext cx="5212080" cy="1115568"/>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200" b="1">
                <a:solidFill>
                  <a:srgbClr val="1B4332"/>
                </a:solidFill>
              </a:defRPr>
            </a:pPr>
            <a:r>
              <a:t>🖼️ Portfolio Showcase &amp; Undo</a:t>
            </a:r>
          </a:p>
          <a:p>
            <a:pPr>
              <a:spcBef>
                <a:spcPts val="300"/>
              </a:spcBef>
              <a:defRPr sz="1050">
                <a:solidFill>
                  <a:srgbClr val="6B6858"/>
                </a:solidFill>
              </a:defRPr>
            </a:pPr>
            <a:r>
              <a:t>Instagram-style image/video gallery with 4 reactions (👍🔥👏💡), 5-second atomic undo toast, and moderation report flags.</a:t>
            </a:r>
          </a:p>
        </p:txBody>
      </p:sp>
      <p:sp>
        <p:nvSpPr>
          <p:cNvPr id="11" name="Rounded Rectangle 10"/>
          <p:cNvSpPr/>
          <p:nvPr/>
        </p:nvSpPr>
        <p:spPr>
          <a:xfrm>
            <a:off x="731520" y="5120640"/>
            <a:ext cx="5212080" cy="1115568"/>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200" b="1">
                <a:solidFill>
                  <a:srgbClr val="1B4332"/>
                </a:solidFill>
              </a:defRPr>
            </a:pPr>
            <a:r>
              <a:t>🔔 Notification Center</a:t>
            </a:r>
          </a:p>
          <a:p>
            <a:pPr>
              <a:spcBef>
                <a:spcPts val="300"/>
              </a:spcBef>
              <a:defRPr sz="1050">
                <a:solidFill>
                  <a:srgbClr val="6B6858"/>
                </a:solidFill>
              </a:defRPr>
            </a:pPr>
            <a:r>
              <a:t>Interactive Navbar bell with live pulse badge, full /notifications page, and deep-link auto-scroll element highlighting.</a:t>
            </a:r>
          </a:p>
        </p:txBody>
      </p:sp>
      <p:sp>
        <p:nvSpPr>
          <p:cNvPr id="12" name="Rounded Rectangle 11"/>
          <p:cNvSpPr/>
          <p:nvPr/>
        </p:nvSpPr>
        <p:spPr>
          <a:xfrm>
            <a:off x="6217920" y="5120640"/>
            <a:ext cx="5212080" cy="1115568"/>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64592" rIns="228600"/>
          <a:lstStyle/>
          <a:p>
            <a:pPr algn="ctr">
              <a:defRPr sz="1200" b="1">
                <a:solidFill>
                  <a:srgbClr val="1B4332"/>
                </a:solidFill>
              </a:defRPr>
            </a:pPr>
            <a:r>
              <a:t>📱 Mobile-First Architecture</a:t>
            </a:r>
          </a:p>
          <a:p>
            <a:pPr>
              <a:spcBef>
                <a:spcPts val="300"/>
              </a:spcBef>
              <a:defRPr sz="1050">
                <a:solidFill>
                  <a:srgbClr val="6B6858"/>
                </a:solidFill>
              </a:defRPr>
            </a:pPr>
            <a:r>
              <a:t>5-destination bottom navigation bar, safe-area inset clearance, and proprietary custom SVG icon family.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AI ALGORITHMS</a:t>
            </a:r>
          </a:p>
          <a:p>
            <a:pPr>
              <a:defRPr sz="2200" b="1">
                <a:solidFill>
                  <a:srgbClr val="FFFFFF"/>
                </a:solidFill>
                <a:latin typeface="Calibri"/>
              </a:defRPr>
            </a:pPr>
            <a:r>
              <a:t>Smart Recommendations &amp; Google Gemini AI</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212080" cy="48463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300" b="1">
                <a:solidFill>
                  <a:srgbClr val="1B4332"/>
                </a:solidFill>
              </a:defRPr>
            </a:pPr>
            <a:r>
              <a:t>TIER 1: DETERMINISTIC MATCH ENGINE</a:t>
            </a:r>
          </a:p>
          <a:p>
            <a:pPr>
              <a:spcBef>
                <a:spcPts val="600"/>
              </a:spcBef>
              <a:defRPr sz="1100" b="1">
                <a:solidFill>
                  <a:srgbClr val="16160F"/>
                </a:solidFill>
              </a:defRPr>
            </a:pPr>
            <a:r>
              <a:t>• Canonical Skill Normalization</a:t>
            </a:r>
          </a:p>
          <a:p>
            <a:pPr>
              <a:defRPr sz="1000">
                <a:solidFill>
                  <a:srgbClr val="6B6858"/>
                </a:solidFill>
              </a:defRPr>
            </a:pPr>
            <a:r>
              <a:t>Centralized alias dictionary standardizes spelling (e.g. 'JS' &lt;-&gt; 'JavaScript', 'ReactJS' &lt;-&gt; 'React') while enforcing false-equivalence guards ('Java' != 'JavaScript').</a:t>
            </a:r>
          </a:p>
          <a:p>
            <a:pPr>
              <a:spcBef>
                <a:spcPts val="600"/>
              </a:spcBef>
              <a:defRPr sz="1100" b="1">
                <a:solidFill>
                  <a:srgbClr val="16160F"/>
                </a:solidFill>
              </a:defRPr>
            </a:pPr>
            <a:r>
              <a:t>• Progressive Diminishing Returns Curve</a:t>
            </a:r>
          </a:p>
          <a:p>
            <a:pPr>
              <a:defRPr sz="1000">
                <a:solidFill>
                  <a:srgbClr val="6B6858"/>
                </a:solidFill>
              </a:defRPr>
            </a:pPr>
            <a:r>
              <a:t>Directional score formula (0-&gt;0, 1-&gt;26, 2-&gt;36, 3-&gt;42, 4-&gt;45, 5+-&gt;46) prevents premature 100% score saturation. Multi-skill matches differentiate clearly (1&lt;-&gt;1 = 72%, 2&lt;-&gt;2 = 92%).</a:t>
            </a:r>
          </a:p>
          <a:p>
            <a:pPr>
              <a:spcBef>
                <a:spcPts val="600"/>
              </a:spcBef>
              <a:defRPr sz="1100" b="1">
                <a:solidFill>
                  <a:srgbClr val="16160F"/>
                </a:solidFill>
              </a:defRPr>
            </a:pPr>
            <a:r>
              <a:t>• Mutual Exchange Bonus (+20)</a:t>
            </a:r>
          </a:p>
          <a:p>
            <a:pPr>
              <a:defRPr sz="1000">
                <a:solidFill>
                  <a:srgbClr val="6B6858"/>
                </a:solidFill>
              </a:defRPr>
            </a:pPr>
            <a:r>
              <a:t>Two-way complementary exchanges receive a direct +20 bonus and high-visibility badge.</a:t>
            </a:r>
          </a:p>
          <a:p>
            <a:pPr>
              <a:spcBef>
                <a:spcPts val="600"/>
              </a:spcBef>
              <a:defRPr sz="1100" b="1">
                <a:solidFill>
                  <a:srgbClr val="16160F"/>
                </a:solidFill>
              </a:defRPr>
            </a:pPr>
            <a:r>
              <a:t>• Related Category Affinities (+8)</a:t>
            </a:r>
          </a:p>
          <a:p>
            <a:pPr>
              <a:defRPr sz="1000">
                <a:solidFill>
                  <a:srgbClr val="6B6858"/>
                </a:solidFill>
              </a:defRPr>
            </a:pPr>
            <a:r>
              <a:t>Non-exact skills sharing a category (e.g. Web Dev) earn +8 each (max 16), strictly clamped to 0–100.</a:t>
            </a:r>
          </a:p>
          <a:p>
            <a:pPr>
              <a:spcBef>
                <a:spcPts val="600"/>
              </a:spcBef>
              <a:defRPr sz="1100" b="1">
                <a:solidFill>
                  <a:srgbClr val="16160F"/>
                </a:solidFill>
              </a:defRPr>
            </a:pPr>
            <a:r>
              <a:t>• Preserved Display Names</a:t>
            </a:r>
          </a:p>
          <a:p>
            <a:pPr>
              <a:defRPr sz="1000">
                <a:solidFill>
                  <a:srgbClr val="6B6858"/>
                </a:solidFill>
              </a:defRPr>
            </a:pPr>
            <a:r>
              <a:t>Human-readable match explanations always cite original user-entered skill names.</a:t>
            </a:r>
          </a:p>
        </p:txBody>
      </p:sp>
      <p:sp>
        <p:nvSpPr>
          <p:cNvPr id="6" name="Rounded Rectangle 5"/>
          <p:cNvSpPr/>
          <p:nvPr/>
        </p:nvSpPr>
        <p:spPr>
          <a:xfrm>
            <a:off x="6217920" y="1463040"/>
            <a:ext cx="5212080" cy="48463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300" b="1">
                <a:solidFill>
                  <a:srgbClr val="1B4332"/>
                </a:solidFill>
              </a:defRPr>
            </a:pPr>
            <a:r>
              <a:t>TIER 2: GOOGLE GEMINI FLASH SEMANTIC LAYER</a:t>
            </a:r>
          </a:p>
          <a:p>
            <a:pPr>
              <a:spcBef>
                <a:spcPts val="600"/>
              </a:spcBef>
              <a:defRPr sz="1100" b="1">
                <a:solidFill>
                  <a:srgbClr val="16160F"/>
                </a:solidFill>
              </a:defRPr>
            </a:pPr>
            <a:r>
              <a:t>• User-Triggered Opt-In (?ai=true)</a:t>
            </a:r>
          </a:p>
          <a:p>
            <a:pPr>
              <a:defRPr sz="1000">
                <a:solidFill>
                  <a:srgbClr val="6B6858"/>
                </a:solidFill>
              </a:defRPr>
            </a:pPr>
            <a:r>
              <a:t>Default recommendations run 100% deterministically with 0 external API calls for instant response. AI is triggered only when explicitly requested.</a:t>
            </a:r>
          </a:p>
          <a:p>
            <a:pPr>
              <a:spcBef>
                <a:spcPts val="600"/>
              </a:spcBef>
              <a:defRPr sz="1100" b="1">
                <a:solidFill>
                  <a:srgbClr val="16160F"/>
                </a:solidFill>
              </a:defRPr>
            </a:pPr>
            <a:r>
              <a:t>• Structured Taxonomy Evaluation</a:t>
            </a:r>
          </a:p>
          <a:p>
            <a:pPr>
              <a:defRPr sz="1000">
                <a:solidFill>
                  <a:srgbClr val="6B6858"/>
                </a:solidFill>
              </a:defRPr>
            </a:pPr>
            <a:r>
              <a:t>Gemini Flash evaluates deeper cross-discipline affinities (e.g., 'Web Development' &lt;-&gt; 'React' + 'Node.js') for a bounded candidate pool (&lt;= 20 users).</a:t>
            </a:r>
          </a:p>
          <a:p>
            <a:pPr>
              <a:spcBef>
                <a:spcPts val="600"/>
              </a:spcBef>
              <a:defRPr sz="1100" b="1">
                <a:solidFill>
                  <a:srgbClr val="16160F"/>
                </a:solidFill>
              </a:defRPr>
            </a:pPr>
            <a:r>
              <a:t>• 70/30 Hybrid Scoring Guardrail</a:t>
            </a:r>
          </a:p>
          <a:p>
            <a:pPr>
              <a:defRPr sz="1000">
                <a:solidFill>
                  <a:srgbClr val="6B6858"/>
                </a:solidFill>
              </a:defRPr>
            </a:pPr>
            <a:r>
              <a:t>Formula: hybridScore = round(traditionalScore * 0.70 + semanticScore * 0.30). The 70% deterministic weight ensures true matches cannot be displaced by AI hallucination.</a:t>
            </a:r>
          </a:p>
          <a:p>
            <a:pPr>
              <a:spcBef>
                <a:spcPts val="600"/>
              </a:spcBef>
              <a:defRPr sz="1100" b="1">
                <a:solidFill>
                  <a:srgbClr val="16160F"/>
                </a:solidFill>
              </a:defRPr>
            </a:pPr>
            <a:r>
              <a:t>• Privacy-Safe Bounded Prompts</a:t>
            </a:r>
          </a:p>
          <a:p>
            <a:pPr>
              <a:defRPr sz="1000">
                <a:solidFill>
                  <a:srgbClr val="6B6858"/>
                </a:solidFill>
              </a:defRPr>
            </a:pPr>
            <a:r>
              <a:t>Passes only sanitized skill names and levels. Zero personal data (no passwords, emails, or chat logs). Candidate IDs verified to prevent fabrication.</a:t>
            </a:r>
          </a:p>
          <a:p>
            <a:pPr>
              <a:spcBef>
                <a:spcPts val="600"/>
              </a:spcBef>
              <a:defRPr sz="1100" b="1">
                <a:solidFill>
                  <a:srgbClr val="16160F"/>
                </a:solidFill>
              </a:defRPr>
            </a:pPr>
            <a:r>
              <a:t>• Resilient Fallback</a:t>
            </a:r>
          </a:p>
          <a:p>
            <a:pPr>
              <a:defRPr sz="1000">
                <a:solidFill>
                  <a:srgbClr val="6B6858"/>
                </a:solidFill>
              </a:defRPr>
            </a:pPr>
            <a:r>
              <a:t>Gracefully falls back to 100% deterministic ranking if API key is absent, rate-limited (429), or times out, ensuring zero UI crash.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DATABASE ARCHITECTURE</a:t>
            </a:r>
          </a:p>
          <a:p>
            <a:pPr>
              <a:defRPr sz="2200" b="1">
                <a:solidFill>
                  <a:srgbClr val="FFFFFF"/>
                </a:solidFill>
                <a:latin typeface="Calibri"/>
              </a:defRPr>
            </a:pPr>
            <a:r>
              <a:t>Database Design — MongoDB / Mongoose Schema</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User</a:t>
            </a:r>
          </a:p>
          <a:p>
            <a:pPr>
              <a:spcBef>
                <a:spcPts val="400"/>
              </a:spcBef>
              <a:defRPr sz="1000">
                <a:solidFill>
                  <a:srgbClr val="6B6858"/>
                </a:solidFill>
              </a:defRPr>
            </a:pPr>
            <a:r>
              <a:t>name, email (unique), passwordHash, profilePicture, profileBanner, location, bio, socialLinks, avgRating (server-managed), completedSwaps (server-managed)</a:t>
            </a:r>
          </a:p>
        </p:txBody>
      </p:sp>
      <p:sp>
        <p:nvSpPr>
          <p:cNvPr id="6" name="Rounded Rectangle 5"/>
          <p:cNvSpPr/>
          <p:nvPr/>
        </p:nvSpPr>
        <p:spPr>
          <a:xfrm>
            <a:off x="4389120" y="141732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Skill</a:t>
            </a:r>
          </a:p>
          <a:p>
            <a:pPr>
              <a:spcBef>
                <a:spcPts val="400"/>
              </a:spcBef>
              <a:defRPr sz="1000">
                <a:solidFill>
                  <a:srgbClr val="6B6858"/>
                </a:solidFill>
              </a:defRPr>
            </a:pPr>
            <a:r>
              <a:t>owner (ref: User), name, normalizedName, category (enum 20), level (enum 4), type ('Offer'|'Learn'), status ('Active'|'Inactive'). Unique: {owner, type, normalizedName}</a:t>
            </a:r>
          </a:p>
        </p:txBody>
      </p:sp>
      <p:sp>
        <p:nvSpPr>
          <p:cNvPr id="7" name="Rounded Rectangle 6"/>
          <p:cNvSpPr/>
          <p:nvPr/>
        </p:nvSpPr>
        <p:spPr>
          <a:xfrm>
            <a:off x="8046720" y="141732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SwapRequest</a:t>
            </a:r>
          </a:p>
          <a:p>
            <a:pPr>
              <a:spcBef>
                <a:spcPts val="400"/>
              </a:spcBef>
              <a:defRPr sz="1000">
                <a:solidFill>
                  <a:srgbClr val="6B6858"/>
                </a:solidFill>
              </a:defRPr>
            </a:pPr>
            <a:r>
              <a:t>fromUser, toUser, offeredSkill, wantedSkill, immutable skill snapshots, status ('pending'|'accepted'|'completed'|'rejected'|'cancelled'|'left'), completionRequestedBy</a:t>
            </a:r>
          </a:p>
        </p:txBody>
      </p:sp>
      <p:sp>
        <p:nvSpPr>
          <p:cNvPr id="8" name="Rounded Rectangle 7"/>
          <p:cNvSpPr/>
          <p:nvPr/>
        </p:nvSpPr>
        <p:spPr>
          <a:xfrm>
            <a:off x="731520" y="306324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Message</a:t>
            </a:r>
          </a:p>
          <a:p>
            <a:pPr>
              <a:spcBef>
                <a:spcPts val="400"/>
              </a:spcBef>
              <a:defRPr sz="1000">
                <a:solidFill>
                  <a:srgbClr val="6B6858"/>
                </a:solidFill>
              </a:defRPr>
            </a:pPr>
            <a:r>
              <a:t>swapRequest (ref), sender (ref), type ('text'|'meeting'), content, meetingSession (ref), isDeleted, status ('sent'|'delivered'|'read'), replyTo</a:t>
            </a:r>
          </a:p>
        </p:txBody>
      </p:sp>
      <p:sp>
        <p:nvSpPr>
          <p:cNvPr id="9" name="Rounded Rectangle 8"/>
          <p:cNvSpPr/>
          <p:nvPr/>
        </p:nvSpPr>
        <p:spPr>
          <a:xfrm>
            <a:off x="4389120" y="306324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MeetingSession</a:t>
            </a:r>
          </a:p>
          <a:p>
            <a:pPr>
              <a:spcBef>
                <a:spcPts val="400"/>
              </a:spcBef>
              <a:defRPr sz="1000">
                <a:solidFill>
                  <a:srgbClr val="6B6858"/>
                </a:solidFill>
              </a:defRPr>
            </a:pPr>
            <a:r>
              <a:t>swap (ref), participants, roomName, scheduledAt, duration (15|30|45|60), status ('scheduled'|'active'|'completed'|'cancelled'), reminded15m, remindedStart</a:t>
            </a:r>
          </a:p>
        </p:txBody>
      </p:sp>
      <p:sp>
        <p:nvSpPr>
          <p:cNvPr id="10" name="Rounded Rectangle 9"/>
          <p:cNvSpPr/>
          <p:nvPr/>
        </p:nvSpPr>
        <p:spPr>
          <a:xfrm>
            <a:off x="8046720" y="306324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Rating</a:t>
            </a:r>
          </a:p>
          <a:p>
            <a:pPr>
              <a:spcBef>
                <a:spcPts val="400"/>
              </a:spcBef>
              <a:defRPr sz="1000">
                <a:solidFill>
                  <a:srgbClr val="6B6858"/>
                </a:solidFill>
              </a:defRPr>
            </a:pPr>
            <a:r>
              <a:t>swapRequest (ref), reviewer (ref), ratedUser (ref), stars (1-5), review. Compound unique index: {swapRequest, reviewer} enforcing max 1 rating per swap</a:t>
            </a:r>
          </a:p>
        </p:txBody>
      </p:sp>
      <p:sp>
        <p:nvSpPr>
          <p:cNvPr id="11" name="Rounded Rectangle 10"/>
          <p:cNvSpPr/>
          <p:nvPr/>
        </p:nvSpPr>
        <p:spPr>
          <a:xfrm>
            <a:off x="731520" y="470916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Notification</a:t>
            </a:r>
          </a:p>
          <a:p>
            <a:pPr>
              <a:spcBef>
                <a:spcPts val="400"/>
              </a:spcBef>
              <a:defRPr sz="1000">
                <a:solidFill>
                  <a:srgbClr val="6B6858"/>
                </a:solidFill>
              </a:defRPr>
            </a:pPr>
            <a:r>
              <a:t>user (ref), sender (ref), swap (ref), type (12 enums), title, message, read (bool). Compound index: {user, read, createdAt: -1}</a:t>
            </a:r>
          </a:p>
        </p:txBody>
      </p:sp>
      <p:sp>
        <p:nvSpPr>
          <p:cNvPr id="12" name="Rounded Rectangle 11"/>
          <p:cNvSpPr/>
          <p:nvPr/>
        </p:nvSpPr>
        <p:spPr>
          <a:xfrm>
            <a:off x="4389120" y="470916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Portfolio</a:t>
            </a:r>
          </a:p>
          <a:p>
            <a:pPr>
              <a:spcBef>
                <a:spcPts val="400"/>
              </a:spcBef>
              <a:defRPr sz="1000">
                <a:solidFill>
                  <a:srgbClr val="6B6858"/>
                </a:solidFill>
              </a:defRPr>
            </a:pPr>
            <a:r>
              <a:t>user (ref), media {url, publicId, type, duration}, caption, skill (ref), moderationStatus, reactions [{user, type}], reportCount. Max 30 items per user</a:t>
            </a:r>
          </a:p>
        </p:txBody>
      </p:sp>
      <p:sp>
        <p:nvSpPr>
          <p:cNvPr id="13" name="Rounded Rectangle 12"/>
          <p:cNvSpPr/>
          <p:nvPr/>
        </p:nvSpPr>
        <p:spPr>
          <a:xfrm>
            <a:off x="8046720" y="4709160"/>
            <a:ext cx="3383280" cy="153619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defRPr sz="1300" b="1">
                <a:solidFill>
                  <a:srgbClr val="1B4332"/>
                </a:solidFill>
              </a:defRPr>
            </a:pPr>
            <a:r>
              <a:t>📁 PortfolioReport</a:t>
            </a:r>
          </a:p>
          <a:p>
            <a:pPr>
              <a:spcBef>
                <a:spcPts val="400"/>
              </a:spcBef>
              <a:defRPr sz="1000">
                <a:solidFill>
                  <a:srgbClr val="6B6858"/>
                </a:solidFill>
              </a:defRPr>
            </a:pPr>
            <a:r>
              <a:t>portfolioItem (ref), reporter (ref), reason (7 enums), description, status. Compound unique index: {portfolioItem, reporter}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UI &amp; DESIGN SYSTEM</a:t>
            </a:r>
          </a:p>
          <a:p>
            <a:pPr>
              <a:defRPr sz="2200" b="1">
                <a:solidFill>
                  <a:srgbClr val="FFFFFF"/>
                </a:solidFill>
                <a:latin typeface="Calibri"/>
              </a:defRPr>
            </a:pPr>
            <a:r>
              <a:t>User Interface &amp; Verified Design System</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114800" cy="48463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defRPr sz="1200" b="1">
                <a:solidFill>
                  <a:srgbClr val="1B4332"/>
                </a:solidFill>
              </a:defRPr>
            </a:pPr>
            <a:r>
              <a:t>PROPRIETARY BRAND &amp; ICONS</a:t>
            </a:r>
          </a:p>
          <a:p>
            <a:pPr>
              <a:spcBef>
                <a:spcPts val="14000"/>
              </a:spcBef>
              <a:defRPr sz="1100" b="1">
                <a:solidFill>
                  <a:srgbClr val="16160F"/>
                </a:solidFill>
              </a:defRPr>
            </a:pPr>
            <a:r>
              <a:t>Custom SVG Icon Family:</a:t>
            </a:r>
          </a:p>
          <a:p>
            <a:pPr>
              <a:spcBef>
                <a:spcPts val="400"/>
              </a:spcBef>
              <a:defRPr sz="1000">
                <a:solidFill>
                  <a:srgbClr val="6B6858"/>
                </a:solidFill>
              </a:defRPr>
            </a:pPr>
            <a:r>
              <a:t>• 📄 OfferedSkillIcon: Hand presenting document with pencil</a:t>
            </a:r>
          </a:p>
          <a:p>
            <a:pPr>
              <a:spcBef>
                <a:spcPts val="400"/>
              </a:spcBef>
              <a:defRPr sz="1000">
                <a:solidFill>
                  <a:srgbClr val="6B6858"/>
                </a:solidFill>
              </a:defRPr>
            </a:pPr>
            <a:r>
              <a:t>• 📑 WantedSkillIcon: Hand holding sheets with bookmark</a:t>
            </a:r>
          </a:p>
          <a:p>
            <a:pPr>
              <a:spcBef>
                <a:spcPts val="400"/>
              </a:spcBef>
              <a:defRPr sz="1000">
                <a:solidFill>
                  <a:srgbClr val="6B6858"/>
                </a:solidFill>
              </a:defRPr>
            </a:pPr>
            <a:r>
              <a:t>• 🪐 MatchesIcon: Orbital reciprocal connection nodes</a:t>
            </a:r>
          </a:p>
        </p:txBody>
      </p:sp>
      <p:pic>
        <p:nvPicPr>
          <p:cNvPr id="6" name="Picture 5" descr="hero.png"/>
          <p:cNvPicPr>
            <a:picLocks noChangeAspect="1"/>
          </p:cNvPicPr>
          <p:nvPr/>
        </p:nvPicPr>
        <p:blipFill>
          <a:blip r:embed="rId2"/>
          <a:stretch>
            <a:fillRect/>
          </a:stretch>
        </p:blipFill>
        <p:spPr>
          <a:xfrm>
            <a:off x="1005840" y="2011680"/>
            <a:ext cx="3474720" cy="3657067"/>
          </a:xfrm>
          <a:prstGeom prst="rect">
            <a:avLst/>
          </a:prstGeom>
        </p:spPr>
      </p:pic>
      <p:sp>
        <p:nvSpPr>
          <p:cNvPr id="7" name="Rounded Rectangle 6"/>
          <p:cNvSpPr/>
          <p:nvPr/>
        </p:nvSpPr>
        <p:spPr>
          <a:xfrm>
            <a:off x="5120640" y="1463040"/>
            <a:ext cx="6309360" cy="48463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300" b="1">
                <a:solidFill>
                  <a:srgbClr val="1B4332"/>
                </a:solidFill>
              </a:defRPr>
            </a:pPr>
            <a:r>
              <a:t>VERIFIED CORE USER INTERFACE VIEWS</a:t>
            </a:r>
          </a:p>
          <a:p>
            <a:pPr>
              <a:spcBef>
                <a:spcPts val="600"/>
              </a:spcBef>
              <a:defRPr sz="1100" b="1">
                <a:solidFill>
                  <a:srgbClr val="16160F"/>
                </a:solidFill>
              </a:defRPr>
            </a:pPr>
            <a:r>
              <a:t>• Cinematic 3D Landing Page</a:t>
            </a:r>
          </a:p>
          <a:p>
            <a:pPr>
              <a:defRPr sz="950">
                <a:solidFill>
                  <a:srgbClr val="6B6858"/>
                </a:solidFill>
              </a:defRPr>
            </a:pPr>
            <a:r>
              <a:t>   Three.js WebGL scene with scroll-driven choreography across 5 stages, frosted glass skill capsules, and responsive mobile FOV.</a:t>
            </a:r>
          </a:p>
          <a:p>
            <a:pPr>
              <a:spcBef>
                <a:spcPts val="600"/>
              </a:spcBef>
              <a:defRPr sz="1100" b="1">
                <a:solidFill>
                  <a:srgbClr val="16160F"/>
                </a:solidFill>
              </a:defRPr>
            </a:pPr>
            <a:r>
              <a:t>• Personal Dashboard (Home)</a:t>
            </a:r>
          </a:p>
          <a:p>
            <a:pPr>
              <a:defRPr sz="950">
                <a:solidFill>
                  <a:srgbClr val="6B6858"/>
                </a:solidFill>
              </a:defRPr>
            </a:pPr>
            <a:r>
              <a:t>   5-metric snapshot bar, active ongoing swaps with direct chat links, pending triage, and recommended match previews.</a:t>
            </a:r>
          </a:p>
          <a:p>
            <a:pPr>
              <a:spcBef>
                <a:spcPts val="600"/>
              </a:spcBef>
              <a:defRPr sz="1100" b="1">
                <a:solidFill>
                  <a:srgbClr val="16160F"/>
                </a:solidFill>
              </a:defRPr>
            </a:pPr>
            <a:r>
              <a:t>• Discover Grid &amp; Multi-Filters</a:t>
            </a:r>
          </a:p>
          <a:p>
            <a:pPr>
              <a:defRPr sz="950">
                <a:solidFill>
                  <a:srgbClr val="6B6858"/>
                </a:solidFill>
              </a:defRPr>
            </a:pPr>
            <a:r>
              <a:t>   One-user-per-card grid layout with keyword search, category dropdowns, level badges, and mobile slide-over filter drawer.</a:t>
            </a:r>
          </a:p>
          <a:p>
            <a:pPr>
              <a:spcBef>
                <a:spcPts val="600"/>
              </a:spcBef>
              <a:defRPr sz="1100" b="1">
                <a:solidFill>
                  <a:srgbClr val="16160F"/>
                </a:solidFill>
              </a:defRPr>
            </a:pPr>
            <a:r>
              <a:t>• Interactive Matches Explorer</a:t>
            </a:r>
          </a:p>
          <a:p>
            <a:pPr>
              <a:defRPr sz="950">
                <a:solidFill>
                  <a:srgbClr val="6B6858"/>
                </a:solidFill>
              </a:defRPr>
            </a:pPr>
            <a:r>
              <a:t>   Match score box (0-100%), directional chips ('They Can Teach You' vs 'You Can Teach Them'), and AI toggle.</a:t>
            </a:r>
          </a:p>
          <a:p>
            <a:pPr>
              <a:spcBef>
                <a:spcPts val="600"/>
              </a:spcBef>
              <a:defRPr sz="1100" b="1">
                <a:solidFill>
                  <a:srgbClr val="16160F"/>
                </a:solidFill>
              </a:defRPr>
            </a:pPr>
            <a:r>
              <a:t>• Desktop 2-Panel Chat &amp; Meetings</a:t>
            </a:r>
          </a:p>
          <a:p>
            <a:pPr>
              <a:defRPr sz="950">
                <a:solidFill>
                  <a:srgbClr val="6B6858"/>
                </a:solidFill>
              </a:defRPr>
            </a:pPr>
            <a:r>
              <a:t>   Full-height workspace with sidebar conversation list, message search, WhatsApp-style date separators, and embedded Jitsi modal.</a:t>
            </a:r>
          </a:p>
          <a:p>
            <a:pPr>
              <a:spcBef>
                <a:spcPts val="600"/>
              </a:spcBef>
              <a:defRPr sz="1100" b="1">
                <a:solidFill>
                  <a:srgbClr val="16160F"/>
                </a:solidFill>
              </a:defRPr>
            </a:pPr>
            <a:r>
              <a:t>• Portfolio Media Lightbox</a:t>
            </a:r>
          </a:p>
          <a:p>
            <a:pPr>
              <a:defRPr sz="950">
                <a:solidFill>
                  <a:srgbClr val="6B6858"/>
                </a:solidFill>
              </a:defRPr>
            </a:pPr>
            <a:r>
              <a:t>   3-column grid with optimistic upload percentage overlays, 4 emoji reactions with animated bursts, and 5s undo toast.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TEST SUITE &amp; RESULTS</a:t>
            </a:r>
          </a:p>
          <a:p>
            <a:pPr>
              <a:defRPr sz="2200" b="1">
                <a:solidFill>
                  <a:srgbClr val="FFFFFF"/>
                </a:solidFill>
                <a:latin typeface="Calibri"/>
              </a:defRPr>
            </a:pPr>
            <a:r>
              <a:t>Testing &amp; Verification — 53 Automated Tests</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10698480" cy="89611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28016" rIns="274320"/>
          <a:lstStyle/>
          <a:p>
            <a:pPr algn="ctr">
              <a:defRPr sz="1200" b="1">
                <a:solidFill>
                  <a:srgbClr val="1B4332"/>
                </a:solidFill>
              </a:defRPr>
            </a:pPr>
            <a:r>
              <a:t>✅ Recommendation Engine Suite — </a:t>
            </a:r>
            <a:r>
              <a:rPr b="1">
                <a:solidFill>
                  <a:srgbClr val="3FA873"/>
                </a:solidFill>
              </a:rPr>
              <a:t>15 Tests • 100% Passed</a:t>
            </a:r>
          </a:p>
          <a:p>
            <a:pPr>
              <a:spcBef>
                <a:spcPts val="200"/>
              </a:spcBef>
              <a:defRPr sz="950">
                <a:solidFill>
                  <a:srgbClr val="6B6858"/>
                </a:solidFill>
              </a:defRPr>
            </a:pPr>
            <a:r>
              <a:t>Verifies canonical skill normalization ('JS' &lt;-&gt; 'JavaScript'), false-equivalence guards ('Java' != 'JavaScript'), progressive diminishing returns scoring (72% -&gt; 92% -&gt; 100%), mutual bonuses, and display name preservation.</a:t>
            </a:r>
          </a:p>
        </p:txBody>
      </p:sp>
      <p:sp>
        <p:nvSpPr>
          <p:cNvPr id="6" name="Rounded Rectangle 5"/>
          <p:cNvSpPr/>
          <p:nvPr/>
        </p:nvSpPr>
        <p:spPr>
          <a:xfrm>
            <a:off x="731520" y="2404872"/>
            <a:ext cx="10698480" cy="89611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28016" rIns="274320"/>
          <a:lstStyle/>
          <a:p>
            <a:pPr algn="ctr">
              <a:defRPr sz="1200" b="1">
                <a:solidFill>
                  <a:srgbClr val="1B4332"/>
                </a:solidFill>
              </a:defRPr>
            </a:pPr>
            <a:r>
              <a:t>✅ Video Meetings &amp; Scheduling Suite — </a:t>
            </a:r>
            <a:r>
              <a:rPr b="1">
                <a:solidFill>
                  <a:srgbClr val="3FA873"/>
                </a:solidFill>
              </a:rPr>
              <a:t>10 Tests • 100% Passed</a:t>
            </a:r>
          </a:p>
          <a:p>
            <a:pPr>
              <a:spcBef>
                <a:spcPts val="200"/>
              </a:spcBef>
              <a:defRPr sz="950">
                <a:solidFill>
                  <a:srgbClr val="6B6858"/>
                </a:solidFill>
              </a:defRPr>
            </a:pPr>
            <a:r>
              <a:t>Validates accepted swap access permissions, unauthorized blocking (403), instant and scheduled session generation, participant access control, cancellation events, and reminder job eligibility.</a:t>
            </a:r>
          </a:p>
        </p:txBody>
      </p:sp>
      <p:sp>
        <p:nvSpPr>
          <p:cNvPr id="7" name="Rounded Rectangle 6"/>
          <p:cNvSpPr/>
          <p:nvPr/>
        </p:nvSpPr>
        <p:spPr>
          <a:xfrm>
            <a:off x="731520" y="3392424"/>
            <a:ext cx="10698480" cy="89611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28016" rIns="274320"/>
          <a:lstStyle/>
          <a:p>
            <a:pPr algn="ctr">
              <a:defRPr sz="1200" b="1">
                <a:solidFill>
                  <a:srgbClr val="1B4332"/>
                </a:solidFill>
              </a:defRPr>
            </a:pPr>
            <a:r>
              <a:t>✅ Notification Center Suite — </a:t>
            </a:r>
            <a:r>
              <a:rPr b="1">
                <a:solidFill>
                  <a:srgbClr val="3FA873"/>
                </a:solidFill>
              </a:rPr>
              <a:t>12 Tests • 100% Passed</a:t>
            </a:r>
          </a:p>
          <a:p>
            <a:pPr>
              <a:spcBef>
                <a:spcPts val="200"/>
              </a:spcBef>
              <a:defRPr sz="950">
                <a:solidFill>
                  <a:srgbClr val="6B6858"/>
                </a:solidFill>
              </a:defRPr>
            </a:pPr>
            <a:r>
              <a:t>Tests real-time Socket.IO room dispatch, user isolation, unread count accuracy, pagination, individual and bulk mark-as-read updates, swap/rating producers, and Map deduplication.</a:t>
            </a:r>
          </a:p>
        </p:txBody>
      </p:sp>
      <p:sp>
        <p:nvSpPr>
          <p:cNvPr id="8" name="Rounded Rectangle 7"/>
          <p:cNvSpPr/>
          <p:nvPr/>
        </p:nvSpPr>
        <p:spPr>
          <a:xfrm>
            <a:off x="731520" y="4379976"/>
            <a:ext cx="10698480" cy="89611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28016" rIns="274320"/>
          <a:lstStyle/>
          <a:p>
            <a:pPr algn="ctr">
              <a:defRPr sz="1200" b="1">
                <a:solidFill>
                  <a:srgbClr val="1B4332"/>
                </a:solidFill>
              </a:defRPr>
            </a:pPr>
            <a:r>
              <a:t>✅ Rating &amp; Reputation Suite — </a:t>
            </a:r>
            <a:r>
              <a:rPr b="1">
                <a:solidFill>
                  <a:srgbClr val="3FA873"/>
                </a:solidFill>
              </a:rPr>
              <a:t>4 Tests • 100% Passed</a:t>
            </a:r>
          </a:p>
          <a:p>
            <a:pPr>
              <a:spcBef>
                <a:spcPts val="200"/>
              </a:spcBef>
              <a:defRPr sz="950">
                <a:solidFill>
                  <a:srgbClr val="6B6858"/>
                </a:solidFill>
              </a:defRPr>
            </a:pPr>
            <a:r>
              <a:t>Ensures rating links to exact swap, populates exchanged skill pair metadata, verifies database compound unique index preventing duplicates, and checks server-side MongoDB aggregation recalculating avgRating.</a:t>
            </a:r>
          </a:p>
        </p:txBody>
      </p:sp>
      <p:sp>
        <p:nvSpPr>
          <p:cNvPr id="9" name="Rounded Rectangle 8"/>
          <p:cNvSpPr/>
          <p:nvPr/>
        </p:nvSpPr>
        <p:spPr>
          <a:xfrm>
            <a:off x="731520" y="5367528"/>
            <a:ext cx="10698480" cy="896112"/>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274320" tIns="128016" rIns="274320"/>
          <a:lstStyle/>
          <a:p>
            <a:pPr algn="ctr">
              <a:defRPr sz="1200" b="1">
                <a:solidFill>
                  <a:srgbClr val="1B4332"/>
                </a:solidFill>
              </a:defRPr>
            </a:pPr>
            <a:r>
              <a:t>✅ Gemini Flash AI Matching Suite — </a:t>
            </a:r>
            <a:r>
              <a:rPr b="1">
                <a:solidFill>
                  <a:srgbClr val="3FA873"/>
                </a:solidFill>
              </a:rPr>
              <a:t>12 Tests • 100% Passed</a:t>
            </a:r>
          </a:p>
          <a:p>
            <a:pPr>
              <a:spcBef>
                <a:spcPts val="200"/>
              </a:spcBef>
              <a:defRPr sz="950">
                <a:solidFill>
                  <a:srgbClr val="6B6858"/>
                </a:solidFill>
              </a:defRPr>
            </a:pPr>
            <a:r>
              <a:t>Verifies default 0-call deterministic mode vs user-triggered ?ai=true execution, exact 70/30 hybrid score math, score bounds (0-100), anti-hallucination candidate validation, and resilient fallback on timeout/429.</a:t>
            </a:r>
          </a:p>
        </p:txBody>
      </p:sp>
      <p:sp>
        <p:nvSpPr>
          <p:cNvPr id="10" name="Rounded Rectangle 9"/>
          <p:cNvSpPr/>
          <p:nvPr/>
        </p:nvSpPr>
        <p:spPr>
          <a:xfrm>
            <a:off x="731520" y="5623560"/>
            <a:ext cx="10698480" cy="685800"/>
          </a:xfrm>
          <a:prstGeom prst="roundRect">
            <a:avLst/>
          </a:prstGeom>
          <a:solidFill>
            <a:srgbClr val="E4EEE8"/>
          </a:solidFill>
          <a:ln w="12700">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050" b="1">
                <a:solidFill>
                  <a:srgbClr val="1B4332"/>
                </a:solidFill>
              </a:defRPr>
            </a:pPr>
            <a:r>
              <a:t>📦 FRONTEND BUILD VERIFICATION: Vite 8 production build (`npm run build`) compiles cleanly with 0 errors and 0 type warnings.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4332"/>
          </a:solidFill>
          <a:ln>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731520" tIns="164592" rIns="731520" bIns="0"/>
          <a:lstStyle/>
          <a:p>
            <a:pPr algn="ctr">
              <a:defRPr sz="1000" b="1">
                <a:solidFill>
                  <a:srgbClr val="3FA873"/>
                </a:solidFill>
                <a:latin typeface="Calibri"/>
              </a:defRPr>
            </a:pPr>
            <a:r>
              <a:t>ROADMAP &amp; SCALABILITY</a:t>
            </a:r>
          </a:p>
          <a:p>
            <a:pPr>
              <a:defRPr sz="2200" b="1">
                <a:solidFill>
                  <a:srgbClr val="FFFFFF"/>
                </a:solidFill>
                <a:latin typeface="Calibri"/>
              </a:defRPr>
            </a:pPr>
            <a:r>
              <a:t>Current Limitations &amp; Future Enhancements</a:t>
            </a:r>
          </a:p>
        </p:txBody>
      </p:sp>
      <p:sp>
        <p:nvSpPr>
          <p:cNvPr id="3" name="Rectangle 2"/>
          <p:cNvSpPr/>
          <p:nvPr/>
        </p:nvSpPr>
        <p:spPr>
          <a:xfrm>
            <a:off x="0" y="1051560"/>
            <a:ext cx="12191695" cy="36576"/>
          </a:xfrm>
          <a:prstGeom prst="rect">
            <a:avLst/>
          </a:prstGeom>
          <a:solidFill>
            <a:srgbClr val="3FA873"/>
          </a:solidFill>
          <a:ln>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88136"/>
            <a:ext cx="12191695" cy="5769864"/>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212080" cy="4846320"/>
          </a:xfrm>
          <a:prstGeom prst="roundRect">
            <a:avLst/>
          </a:prstGeom>
          <a:solidFill>
            <a:srgbClr val="FFFFFF"/>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300" b="1">
                <a:solidFill>
                  <a:srgbClr val="1B4332"/>
                </a:solidFill>
              </a:defRPr>
            </a:pPr>
            <a:r>
              <a:t>CURRENT SCOPE &amp; HONEST LIMITATIONS</a:t>
            </a:r>
          </a:p>
          <a:p>
            <a:pPr>
              <a:spcBef>
                <a:spcPts val="600"/>
              </a:spcBef>
              <a:defRPr sz="1100" b="1">
                <a:solidFill>
                  <a:srgbClr val="16160F"/>
                </a:solidFill>
              </a:defRPr>
            </a:pPr>
            <a:r>
              <a:t>• No Email Verification / Password Reset</a:t>
            </a:r>
          </a:p>
          <a:p>
            <a:pPr>
              <a:defRPr sz="1000">
                <a:solidFill>
                  <a:srgbClr val="6B6858"/>
                </a:solidFill>
              </a:defRPr>
            </a:pPr>
            <a:r>
              <a:t>Users register directly with email/password; forgot-password recovery is out of mini-project scope.</a:t>
            </a:r>
          </a:p>
          <a:p>
            <a:pPr>
              <a:spcBef>
                <a:spcPts val="600"/>
              </a:spcBef>
              <a:defRPr sz="1100" b="1">
                <a:solidFill>
                  <a:srgbClr val="16160F"/>
                </a:solidFill>
              </a:defRPr>
            </a:pPr>
            <a:r>
              <a:t>• Single-Instance Socket.IO</a:t>
            </a:r>
          </a:p>
          <a:p>
            <a:pPr>
              <a:defRPr sz="1000">
                <a:solidFill>
                  <a:srgbClr val="6B6858"/>
                </a:solidFill>
              </a:defRPr>
            </a:pPr>
            <a:r>
              <a:t>WebSockets operate in-memory on a single Node process; horizontal scaling across multiple servers will require a Redis adapter.</a:t>
            </a:r>
          </a:p>
          <a:p>
            <a:pPr>
              <a:spcBef>
                <a:spcPts val="600"/>
              </a:spcBef>
              <a:defRPr sz="1100" b="1">
                <a:solidFill>
                  <a:srgbClr val="16160F"/>
                </a:solidFill>
              </a:defRPr>
            </a:pPr>
            <a:r>
              <a:t>• In-App Only Notifications</a:t>
            </a:r>
          </a:p>
          <a:p>
            <a:pPr>
              <a:defRPr sz="1000">
                <a:solidFill>
                  <a:srgbClr val="6B6858"/>
                </a:solidFill>
              </a:defRPr>
            </a:pPr>
            <a:r>
              <a:t>Notifications are stored in MongoDB and pushed over live WebSockets; native mobile push notifications (FCM/APNs) are not yet integrated.</a:t>
            </a:r>
          </a:p>
          <a:p>
            <a:pPr>
              <a:spcBef>
                <a:spcPts val="600"/>
              </a:spcBef>
              <a:defRPr sz="1100" b="1">
                <a:solidFill>
                  <a:srgbClr val="16160F"/>
                </a:solidFill>
              </a:defRPr>
            </a:pPr>
            <a:r>
              <a:t>• No Admin UI Panel</a:t>
            </a:r>
          </a:p>
          <a:p>
            <a:pPr>
              <a:defRPr sz="1000">
                <a:solidFill>
                  <a:srgbClr val="6B6858"/>
                </a:solidFill>
              </a:defRPr>
            </a:pPr>
            <a:r>
              <a:t>Portfolio moderation reports are logged to the database with categorical reasons, but manual review requires direct DB access.</a:t>
            </a:r>
          </a:p>
          <a:p>
            <a:pPr>
              <a:spcBef>
                <a:spcPts val="600"/>
              </a:spcBef>
              <a:defRPr sz="1100" b="1">
                <a:solidFill>
                  <a:srgbClr val="16160F"/>
                </a:solidFill>
              </a:defRPr>
            </a:pPr>
            <a:r>
              <a:t>• Render Free-Tier Spin-Down</a:t>
            </a:r>
          </a:p>
          <a:p>
            <a:pPr>
              <a:defRPr sz="1000">
                <a:solidFill>
                  <a:srgbClr val="6B6858"/>
                </a:solidFill>
              </a:defRPr>
            </a:pPr>
            <a:r>
              <a:t>Backend may experience 30–60 second cold starts after inactivity on free-tier hosting.</a:t>
            </a:r>
          </a:p>
        </p:txBody>
      </p:sp>
      <p:sp>
        <p:nvSpPr>
          <p:cNvPr id="6" name="Rounded Rectangle 5"/>
          <p:cNvSpPr/>
          <p:nvPr/>
        </p:nvSpPr>
        <p:spPr>
          <a:xfrm>
            <a:off x="6217920" y="1463040"/>
            <a:ext cx="5212080" cy="4846320"/>
          </a:xfrm>
          <a:prstGeom prst="roundRect">
            <a:avLst/>
          </a:prstGeom>
          <a:solidFill>
            <a:srgbClr val="F0F4F1"/>
          </a:solidFill>
          <a:ln w="12700">
            <a:solidFill>
              <a:srgbClr val="E6E3DA"/>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a:lstStyle/>
          <a:p>
            <a:pPr algn="ctr">
              <a:defRPr sz="1300" b="1">
                <a:solidFill>
                  <a:srgbClr val="3FA873"/>
                </a:solidFill>
              </a:defRPr>
            </a:pPr>
            <a:r>
              <a:t>FUTURE ENHANCEMENT ROADMAP</a:t>
            </a:r>
          </a:p>
          <a:p>
            <a:pPr>
              <a:spcBef>
                <a:spcPts val="600"/>
              </a:spcBef>
              <a:defRPr sz="1100" b="1">
                <a:solidFill>
                  <a:srgbClr val="16160F"/>
                </a:solidFill>
              </a:defRPr>
            </a:pPr>
            <a:r>
              <a:t>✨ Redis Multi-Server Scaling</a:t>
            </a:r>
          </a:p>
          <a:p>
            <a:pPr>
              <a:defRPr sz="1000">
                <a:solidFill>
                  <a:srgbClr val="6B6858"/>
                </a:solidFill>
              </a:defRPr>
            </a:pPr>
            <a:r>
              <a:t>Add @socket.io/redis-adapter to scale Socket.IO across multiple cluster nodes and share session states.</a:t>
            </a:r>
          </a:p>
          <a:p>
            <a:pPr>
              <a:spcBef>
                <a:spcPts val="600"/>
              </a:spcBef>
              <a:defRPr sz="1100" b="1">
                <a:solidFill>
                  <a:srgbClr val="16160F"/>
                </a:solidFill>
              </a:defRPr>
            </a:pPr>
            <a:r>
              <a:t>✨ Transactional Email &amp; SMS Service</a:t>
            </a:r>
          </a:p>
          <a:p>
            <a:pPr>
              <a:defRPr sz="1000">
                <a:solidFill>
                  <a:srgbClr val="6B6858"/>
                </a:solidFill>
              </a:defRPr>
            </a:pPr>
            <a:r>
              <a:t>Integrate Resend or SendGrid for account verification, password resets, and session reminder alerts.</a:t>
            </a:r>
          </a:p>
          <a:p>
            <a:pPr>
              <a:spcBef>
                <a:spcPts val="600"/>
              </a:spcBef>
              <a:defRPr sz="1100" b="1">
                <a:solidFill>
                  <a:srgbClr val="16160F"/>
                </a:solidFill>
              </a:defRPr>
            </a:pPr>
            <a:r>
              <a:t>✨ Multi-Party Skill Swaps</a:t>
            </a:r>
          </a:p>
          <a:p>
            <a:pPr>
              <a:defRPr sz="1000">
                <a:solidFill>
                  <a:srgbClr val="6B6858"/>
                </a:solidFill>
              </a:defRPr>
            </a:pPr>
            <a:r>
              <a:t>Extend the bilateral swap engine to support triangular or group barter circles (A teaches B, B teaches C, C teaches A).</a:t>
            </a:r>
          </a:p>
          <a:p>
            <a:pPr>
              <a:spcBef>
                <a:spcPts val="600"/>
              </a:spcBef>
              <a:defRPr sz="1100" b="1">
                <a:solidFill>
                  <a:srgbClr val="16160F"/>
                </a:solidFill>
              </a:defRPr>
            </a:pPr>
            <a:r>
              <a:t>✨ Dedicated Admin Moderation Suite</a:t>
            </a:r>
          </a:p>
          <a:p>
            <a:pPr>
              <a:defRPr sz="1000">
                <a:solidFill>
                  <a:srgbClr val="6B6858"/>
                </a:solidFill>
              </a:defRPr>
            </a:pPr>
            <a:r>
              <a:t>Build a role-based dashboard for community managers to inspect flagged portfolio media and resolve disputes.</a:t>
            </a:r>
          </a:p>
          <a:p>
            <a:pPr>
              <a:spcBef>
                <a:spcPts val="600"/>
              </a:spcBef>
              <a:defRPr sz="1100" b="1">
                <a:solidFill>
                  <a:srgbClr val="16160F"/>
                </a:solidFill>
              </a:defRPr>
            </a:pPr>
            <a:r>
              <a:t>✨ React Native Mobile Application</a:t>
            </a:r>
          </a:p>
          <a:p>
            <a:pPr>
              <a:defRPr sz="1000">
                <a:solidFill>
                  <a:srgbClr val="6B6858"/>
                </a:solidFill>
              </a:defRPr>
            </a:pPr>
            <a:r>
              <a:t>Port the React 19 client to React Native for native iOS &amp; Android apps with background push notifications.</a:t>
            </a:r>
          </a:p>
          <a:p>
            <a:pPr>
              <a:spcBef>
                <a:spcPts val="600"/>
              </a:spcBef>
              <a:defRPr sz="1100" b="1">
                <a:solidFill>
                  <a:srgbClr val="16160F"/>
                </a:solidFill>
              </a:defRPr>
            </a:pPr>
            <a:r>
              <a:t>✨ Collaborative AI Filtering</a:t>
            </a:r>
          </a:p>
          <a:p>
            <a:pPr>
              <a:defRPr sz="1000">
                <a:solidFill>
                  <a:srgbClr val="6B6858"/>
                </a:solidFill>
              </a:defRPr>
            </a:pPr>
            <a:r>
              <a:t>Train machine learning models on historical swap completions to predict partner chemistry beyond skill keywords.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2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FA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280160"/>
            <a:ext cx="6217920" cy="4663440"/>
          </a:xfrm>
          <a:prstGeom prst="roundRect">
            <a:avLst/>
          </a:prstGeom>
          <a:solidFill>
            <a:srgbClr val="181C1A"/>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defRPr sz="1300" b="1">
                <a:solidFill>
                  <a:srgbClr val="3FA873"/>
                </a:solidFill>
              </a:defRPr>
            </a:pPr>
            <a:r>
              <a:t>PROJECT SUMMARY &amp; TAKEAWAYS</a:t>
            </a:r>
          </a:p>
          <a:p>
            <a:pPr>
              <a:spcBef>
                <a:spcPts val="1000"/>
              </a:spcBef>
              <a:defRPr sz="1200" b="1">
                <a:solidFill>
                  <a:srgbClr val="FFFFFF"/>
                </a:solidFill>
              </a:defRPr>
            </a:pPr>
            <a:r>
              <a:t>• Democratic Learning Model</a:t>
            </a:r>
          </a:p>
          <a:p>
            <a:pPr>
              <a:defRPr sz="1100">
                <a:solidFill>
                  <a:srgbClr val="A0B4AA"/>
                </a:solidFill>
              </a:defRPr>
            </a:pPr>
            <a:r>
              <a:t>Eliminated financial barriers to education through an authentic bilateral barter marketplace.</a:t>
            </a:r>
          </a:p>
          <a:p>
            <a:pPr>
              <a:spcBef>
                <a:spcPts val="1000"/>
              </a:spcBef>
              <a:defRPr sz="1200" b="1">
                <a:solidFill>
                  <a:srgbClr val="FFFFFF"/>
                </a:solidFill>
              </a:defRPr>
            </a:pPr>
            <a:r>
              <a:t>• Complete End-to-End Engineering</a:t>
            </a:r>
          </a:p>
          <a:p>
            <a:pPr>
              <a:defRPr sz="1100">
                <a:solidFill>
                  <a:srgbClr val="A0B4AA"/>
                </a:solidFill>
              </a:defRPr>
            </a:pPr>
            <a:r>
              <a:t>Shipped all 12 planned phases including 3D WebGL scenes, full dark mode, real-time chat, Jitsi video, and portfolio showcases.</a:t>
            </a:r>
          </a:p>
          <a:p>
            <a:pPr>
              <a:spcBef>
                <a:spcPts val="1000"/>
              </a:spcBef>
              <a:defRPr sz="1200" b="1">
                <a:solidFill>
                  <a:srgbClr val="FFFFFF"/>
                </a:solidFill>
              </a:defRPr>
            </a:pPr>
            <a:r>
              <a:t>• Responsible AI Architecture</a:t>
            </a:r>
          </a:p>
          <a:p>
            <a:pPr>
              <a:defRPr sz="1100">
                <a:solidFill>
                  <a:srgbClr val="A0B4AA"/>
                </a:solidFill>
              </a:defRPr>
            </a:pPr>
            <a:r>
              <a:t>Implemented a 70/30 hybrid anchor where AI augments deterministic matching rather than hallucinates false compatibility.</a:t>
            </a:r>
          </a:p>
          <a:p>
            <a:pPr>
              <a:spcBef>
                <a:spcPts val="1000"/>
              </a:spcBef>
              <a:defRPr sz="1200" b="1">
                <a:solidFill>
                  <a:srgbClr val="FFFFFF"/>
                </a:solidFill>
              </a:defRPr>
            </a:pPr>
            <a:r>
              <a:t>• Robust Codebase &amp; Documentation</a:t>
            </a:r>
          </a:p>
          <a:p>
            <a:pPr>
              <a:defRPr sz="1100">
                <a:solidFill>
                  <a:srgbClr val="A0B4AA"/>
                </a:solidFill>
              </a:defRPr>
            </a:pPr>
            <a:r>
              <a:t>Backed by 53 verified automated tests, 12 thorough documentation manuals (164 KB), and zero invented features.</a:t>
            </a:r>
          </a:p>
        </p:txBody>
      </p:sp>
      <p:sp>
        <p:nvSpPr>
          <p:cNvPr id="5" name="Rounded Rectangle 4"/>
          <p:cNvSpPr/>
          <p:nvPr/>
        </p:nvSpPr>
        <p:spPr>
          <a:xfrm>
            <a:off x="7498079" y="1280160"/>
            <a:ext cx="3749039" cy="4663440"/>
          </a:xfrm>
          <a:prstGeom prst="roundRect">
            <a:avLst/>
          </a:prstGeom>
          <a:solidFill>
            <a:srgbClr val="1B4332"/>
          </a:solidFill>
          <a:ln w="12700">
            <a:solidFill>
              <a:srgbClr val="3FA873"/>
            </a:solidFill>
          </a:ln>
        </p:spPr>
        <p:style>
          <a:lnRef idx="1">
            <a:schemeClr val="accent1"/>
          </a:lnRef>
          <a:fillRef idx="3">
            <a:schemeClr val="accent1"/>
          </a:fillRef>
          <a:effectRef idx="2">
            <a:schemeClr val="accent1"/>
          </a:effectRef>
          <a:fontRef idx="minor">
            <a:schemeClr val="lt1"/>
          </a:fontRef>
        </p:style>
        <p:txBody>
          <a:bodyPr rtlCol="0" anchor="ctr" wrap="square" lIns="365760" tIns="548640" rIns="365760"/>
          <a:lstStyle/>
          <a:p>
            <a:pPr algn="ctr">
              <a:defRPr sz="3600" b="1">
                <a:solidFill>
                  <a:srgbClr val="FFFFFF"/>
                </a:solidFill>
                <a:latin typeface="Georgia"/>
              </a:defRPr>
            </a:pPr>
            <a:r>
              <a:t>Thank You!</a:t>
            </a:r>
          </a:p>
          <a:p>
            <a:pPr>
              <a:spcBef>
                <a:spcPts val="800"/>
              </a:spcBef>
              <a:defRPr sz="2000" b="1">
                <a:solidFill>
                  <a:srgbClr val="3FA873"/>
                </a:solidFill>
              </a:defRPr>
            </a:pPr>
            <a:r>
              <a:t>Questions &amp; Answers</a:t>
            </a:r>
          </a:p>
          <a:p>
            <a:pPr>
              <a:spcBef>
                <a:spcPts val="1600"/>
              </a:spcBef>
              <a:defRPr sz="1200">
                <a:solidFill>
                  <a:srgbClr val="D2E6DC"/>
                </a:solidFill>
              </a:defRPr>
            </a:pPr>
            <a:r>
              <a:t>We are open for evaluation, demonstration, and viva questions.</a:t>
            </a:r>
          </a:p>
          <a:p>
            <a:pPr>
              <a:spcBef>
                <a:spcPts val="2400"/>
              </a:spcBef>
              <a:defRPr sz="1100">
                <a:solidFill>
                  <a:srgbClr val="B4D2C3"/>
                </a:solidFill>
              </a:defRPr>
            </a:pPr>
            <a:r>
              <a:t>Repository &amp; Documentation:</a:t>
            </a:r>
            <a:br/>
            <a:r>
              <a:t>github.com/ShaikMahaboobbasha2005/SkillSwap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